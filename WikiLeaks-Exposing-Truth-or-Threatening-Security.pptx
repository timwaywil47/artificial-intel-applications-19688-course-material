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Instrument Sans Medium" panose="020B0604020202020204" charset="0"/>
      <p:regular r:id="rId11"/>
    </p:embeddedFont>
    <p:embeddedFont>
      <p:font typeface="Inter"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4" autoAdjust="0"/>
  </p:normalViewPr>
  <p:slideViewPr>
    <p:cSldViewPr snapToGrid="0" snapToObjects="1">
      <p:cViewPr varScale="1">
        <p:scale>
          <a:sx n="88" d="100"/>
          <a:sy n="88" d="100"/>
        </p:scale>
        <p:origin x="76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thy.williams8-W0740252" userId="45182ffe-578f-476e-88da-a708d9dd6b39" providerId="ADAL" clId="{9312FECA-116B-4FB4-AAE1-4D1A7A47078B}"/>
    <pc:docChg chg="undo custSel modSld">
      <pc:chgData name="timothy.williams8-W0740252" userId="45182ffe-578f-476e-88da-a708d9dd6b39" providerId="ADAL" clId="{9312FECA-116B-4FB4-AAE1-4D1A7A47078B}" dt="2025-02-13T21:04:48.742" v="96" actId="20577"/>
      <pc:docMkLst>
        <pc:docMk/>
      </pc:docMkLst>
      <pc:sldChg chg="modSp mod modNotesTx">
        <pc:chgData name="timothy.williams8-W0740252" userId="45182ffe-578f-476e-88da-a708d9dd6b39" providerId="ADAL" clId="{9312FECA-116B-4FB4-AAE1-4D1A7A47078B}" dt="2025-02-13T21:04:19.168" v="93" actId="20577"/>
        <pc:sldMkLst>
          <pc:docMk/>
          <pc:sldMk cId="0" sldId="256"/>
        </pc:sldMkLst>
        <pc:picChg chg="mod">
          <ac:chgData name="timothy.williams8-W0740252" userId="45182ffe-578f-476e-88da-a708d9dd6b39" providerId="ADAL" clId="{9312FECA-116B-4FB4-AAE1-4D1A7A47078B}" dt="2025-02-13T20:42:35.069" v="1" actId="1076"/>
          <ac:picMkLst>
            <pc:docMk/>
            <pc:sldMk cId="0" sldId="256"/>
            <ac:picMk id="2" creationId="{00000000-0000-0000-0000-000000000000}"/>
          </ac:picMkLst>
        </pc:picChg>
      </pc:sldChg>
      <pc:sldChg chg="modNotesTx">
        <pc:chgData name="timothy.williams8-W0740252" userId="45182ffe-578f-476e-88da-a708d9dd6b39" providerId="ADAL" clId="{9312FECA-116B-4FB4-AAE1-4D1A7A47078B}" dt="2025-02-13T21:04:37.965" v="95" actId="20577"/>
        <pc:sldMkLst>
          <pc:docMk/>
          <pc:sldMk cId="0" sldId="257"/>
        </pc:sldMkLst>
      </pc:sldChg>
      <pc:sldChg chg="modNotesTx">
        <pc:chgData name="timothy.williams8-W0740252" userId="45182ffe-578f-476e-88da-a708d9dd6b39" providerId="ADAL" clId="{9312FECA-116B-4FB4-AAE1-4D1A7A47078B}" dt="2025-02-13T21:04:48.742" v="96" actId="20577"/>
        <pc:sldMkLst>
          <pc:docMk/>
          <pc:sldMk cId="0" sldId="258"/>
        </pc:sldMkLst>
      </pc:sldChg>
      <pc:sldChg chg="modNotesTx">
        <pc:chgData name="timothy.williams8-W0740252" userId="45182ffe-578f-476e-88da-a708d9dd6b39" providerId="ADAL" clId="{9312FECA-116B-4FB4-AAE1-4D1A7A47078B}" dt="2025-02-13T20:44:35.850" v="2"/>
        <pc:sldMkLst>
          <pc:docMk/>
          <pc:sldMk cId="0" sldId="260"/>
        </pc:sldMkLst>
      </pc:sldChg>
      <pc:sldChg chg="modSp mod">
        <pc:chgData name="timothy.williams8-W0740252" userId="45182ffe-578f-476e-88da-a708d9dd6b39" providerId="ADAL" clId="{9312FECA-116B-4FB4-AAE1-4D1A7A47078B}" dt="2025-02-13T20:40:47.251" v="0" actId="1076"/>
        <pc:sldMkLst>
          <pc:docMk/>
          <pc:sldMk cId="0" sldId="263"/>
        </pc:sldMkLst>
        <pc:spChg chg="mod">
          <ac:chgData name="timothy.williams8-W0740252" userId="45182ffe-578f-476e-88da-a708d9dd6b39" providerId="ADAL" clId="{9312FECA-116B-4FB4-AAE1-4D1A7A47078B}" dt="2025-02-13T20:40:47.251" v="0" actId="1076"/>
          <ac:spMkLst>
            <pc:docMk/>
            <pc:sldMk cId="0" sldId="263"/>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66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britannica.com/topic/WikiLeaks"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britannica.com/biography/Julian-Assange" TargetMode="External"/><Relationship Id="rId5" Type="http://schemas.openxmlformats.org/officeDocument/2006/relationships/hyperlink" Target="https://ccnmtl.columbia.edu/projects/caseconsortium/casestudies/70/casestudy/www/layout/case_id_70_id_627.html" TargetMode="External"/><Relationship Id="rId4" Type="http://schemas.openxmlformats.org/officeDocument/2006/relationships/hyperlink" Target="https://simple.wikipedia.org/wiki/WikiLeak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effectLst/>
                <a:latin typeface="fkGroteskNeue"/>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latin typeface="var(--font-fk-grotesk-neue)"/>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var(--font-fk-grotesk)"/>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effectLst/>
                <a:latin typeface="fkGroteskNeue"/>
              </a:rPr>
              <a:t>WikiLeaks: A Global Platform for </a:t>
            </a:r>
            <a:r>
              <a:rPr lang="en-US" b="0" i="0" dirty="0" err="1">
                <a:effectLst/>
                <a:latin typeface="fkGroteskNeue"/>
              </a:rPr>
              <a:t>WhistleblowingWikiLeaks</a:t>
            </a:r>
            <a:r>
              <a:rPr lang="en-US" b="0" i="0" dirty="0">
                <a:effectLst/>
                <a:latin typeface="fkGroteskNeue"/>
              </a:rPr>
              <a:t> is a non-profit media organization founded by Julian Assange in 2006, dedicated to publishing classified and sensitive documents from anonymous sources</a:t>
            </a:r>
            <a:r>
              <a:rPr lang="en-US" b="0" i="0" u="none" strike="noStrike" dirty="0">
                <a:effectLst/>
                <a:latin typeface="var(--font-berkeley-mono)"/>
                <a:hlinkClick r:id="rId3"/>
              </a:rPr>
              <a:t>1</a:t>
            </a:r>
            <a:r>
              <a:rPr lang="en-US" b="0" i="0" u="none" strike="noStrike" dirty="0">
                <a:effectLst/>
                <a:latin typeface="var(--font-berkeley-mono)"/>
                <a:hlinkClick r:id="rId4"/>
              </a:rPr>
              <a:t>3</a:t>
            </a:r>
            <a:r>
              <a:rPr lang="en-US" b="0" i="0" dirty="0">
                <a:effectLst/>
                <a:latin typeface="fkGroteskNeue"/>
              </a:rPr>
              <a:t>. Created as a secure platform for whistleblowers, the organization aims to bring important and often hidden information to public attention</a:t>
            </a:r>
            <a:r>
              <a:rPr lang="en-US" b="0" i="0" u="none" strike="noStrike" dirty="0">
                <a:effectLst/>
                <a:latin typeface="var(--font-berkeley-mono)"/>
                <a:hlinkClick r:id="rId5"/>
              </a:rPr>
              <a:t>5</a:t>
            </a:r>
            <a:r>
              <a:rPr lang="en-US" b="0" i="0" dirty="0">
                <a:effectLst/>
                <a:latin typeface="fkGroteskNeue"/>
              </a:rPr>
              <a:t>.Key Founding </a:t>
            </a:r>
            <a:r>
              <a:rPr lang="en-US" b="0" i="0" dirty="0" err="1">
                <a:effectLst/>
                <a:latin typeface="fkGroteskNeue"/>
              </a:rPr>
              <a:t>DetailsFounded</a:t>
            </a:r>
            <a:r>
              <a:rPr lang="en-US" b="0" i="0" dirty="0">
                <a:effectLst/>
                <a:latin typeface="fkGroteskNeue"/>
              </a:rPr>
              <a:t> by Julian Assange, an Australian computer programmer and activist</a:t>
            </a:r>
          </a:p>
          <a:p>
            <a:pPr algn="l">
              <a:buFont typeface="Arial" panose="020B0604020202020204" pitchFamily="34" charset="0"/>
              <a:buChar char="•"/>
            </a:pPr>
            <a:r>
              <a:rPr lang="en-US" b="0" i="0" dirty="0">
                <a:effectLst/>
                <a:latin typeface="fkGroteskNeue"/>
              </a:rPr>
              <a:t>Registered domain in 1999, but actively launched in 2006</a:t>
            </a:r>
          </a:p>
          <a:p>
            <a:pPr algn="l">
              <a:buFont typeface="Arial" panose="020B0604020202020204" pitchFamily="34" charset="0"/>
              <a:buChar char="•"/>
            </a:pPr>
            <a:r>
              <a:rPr lang="en-US" b="0" i="0" dirty="0">
                <a:effectLst/>
                <a:latin typeface="fkGroteskNeue"/>
              </a:rPr>
              <a:t>Designed as an "</a:t>
            </a:r>
            <a:r>
              <a:rPr lang="en-US" b="0" i="0" dirty="0" err="1">
                <a:effectLst/>
                <a:latin typeface="fkGroteskNeue"/>
              </a:rPr>
              <a:t>uncensorable</a:t>
            </a:r>
            <a:r>
              <a:rPr lang="en-US" b="0" i="0" dirty="0">
                <a:effectLst/>
                <a:latin typeface="fkGroteskNeue"/>
              </a:rPr>
              <a:t> system for untraceable mass document leaking"</a:t>
            </a:r>
            <a:r>
              <a:rPr lang="en-US" b="0" i="0" u="none" strike="noStrike" dirty="0">
                <a:effectLst/>
                <a:latin typeface="var(--font-berkeley-mono)"/>
                <a:hlinkClick r:id="rId5"/>
              </a:rPr>
              <a:t>5</a:t>
            </a:r>
            <a:endParaRPr lang="en-US" b="0" i="0" dirty="0">
              <a:effectLst/>
              <a:latin typeface="fkGroteskNeue"/>
            </a:endParaRPr>
          </a:p>
          <a:p>
            <a:pPr algn="l">
              <a:buFont typeface="Arial" panose="020B0604020202020204" pitchFamily="34" charset="0"/>
              <a:buChar char="•"/>
            </a:pPr>
            <a:r>
              <a:rPr lang="en-US" b="0" i="0" dirty="0">
                <a:effectLst/>
                <a:latin typeface="fkGroteskNeue"/>
              </a:rPr>
              <a:t>Initial </a:t>
            </a:r>
            <a:r>
              <a:rPr lang="en-US" b="0" i="0" dirty="0" err="1">
                <a:effectLst/>
                <a:latin typeface="fkGroteskNeue"/>
              </a:rPr>
              <a:t>CharacteristicsInitially</a:t>
            </a:r>
            <a:r>
              <a:rPr lang="en-US" b="0" i="0" dirty="0">
                <a:effectLst/>
                <a:latin typeface="fkGroteskNeue"/>
              </a:rPr>
              <a:t> used a wiki model allowing site editing (which was later changed)</a:t>
            </a:r>
          </a:p>
          <a:p>
            <a:pPr algn="l">
              <a:buFont typeface="Arial" panose="020B0604020202020204" pitchFamily="34" charset="0"/>
              <a:buChar char="•"/>
            </a:pPr>
            <a:r>
              <a:rPr lang="en-US" b="0" i="0" dirty="0">
                <a:effectLst/>
                <a:latin typeface="fkGroteskNeue"/>
              </a:rPr>
              <a:t>First publication in December 2006 was an unverified document from a Somali rebel leader</a:t>
            </a:r>
          </a:p>
          <a:p>
            <a:pPr algn="l">
              <a:buFont typeface="Arial" panose="020B0604020202020204" pitchFamily="34" charset="0"/>
              <a:buChar char="•"/>
            </a:pPr>
            <a:r>
              <a:rPr lang="en-US" b="0" i="0" dirty="0">
                <a:effectLst/>
                <a:latin typeface="fkGroteskNeue"/>
              </a:rPr>
              <a:t>Rapidly grew to over 1.2 million documents in its first year</a:t>
            </a:r>
            <a:r>
              <a:rPr lang="en-US" b="0" i="0" u="none" strike="noStrike" dirty="0">
                <a:effectLst/>
                <a:latin typeface="var(--font-berkeley-mono)"/>
                <a:hlinkClick r:id="rId4"/>
              </a:rPr>
              <a:t>3</a:t>
            </a:r>
            <a:endParaRPr lang="en-US" b="0" i="0" dirty="0">
              <a:effectLst/>
              <a:latin typeface="fkGroteskNeue"/>
            </a:endParaRPr>
          </a:p>
          <a:p>
            <a:r>
              <a:rPr lang="en-US" b="0" i="0" dirty="0">
                <a:effectLst/>
                <a:latin typeface="fkGroteskNeue"/>
              </a:rPr>
              <a:t>Organizational Philosophy</a:t>
            </a:r>
            <a:br>
              <a:rPr lang="en-US" b="0" i="0" dirty="0">
                <a:effectLst/>
                <a:latin typeface="fkGroteskNeue"/>
              </a:rPr>
            </a:br>
            <a:r>
              <a:rPr lang="en-US" b="0" i="0" dirty="0">
                <a:effectLst/>
                <a:latin typeface="fkGroteskNeue"/>
              </a:rPr>
              <a:t>Assange envisioned WikiLeaks as a platform practicing "scientific journalism" - providing primary source materials with minimal editorial commentary</a:t>
            </a:r>
            <a:r>
              <a:rPr lang="en-US" b="0" i="0" u="none" strike="noStrike" dirty="0">
                <a:effectLst/>
                <a:latin typeface="var(--font-berkeley-mono)"/>
                <a:hlinkClick r:id="rId6"/>
              </a:rPr>
              <a:t>2</a:t>
            </a:r>
            <a:r>
              <a:rPr lang="en-US" b="0" i="0" dirty="0">
                <a:effectLst/>
                <a:latin typeface="fkGroteskNeue"/>
              </a:rPr>
              <a:t>. The organization seeks to expose governmental, corporate, and institutional secrets while protecting the identities of its sources</a:t>
            </a:r>
            <a:r>
              <a:rPr lang="en-US" b="0" i="0" u="none" strike="noStrike" dirty="0">
                <a:effectLst/>
                <a:latin typeface="var(--font-berkeley-mono)"/>
                <a:hlinkClick r:id="rId4"/>
              </a:rPr>
              <a:t>3</a:t>
            </a:r>
            <a:r>
              <a:rPr lang="en-US" b="0" i="0" dirty="0">
                <a:effectLst/>
                <a:latin typeface="fkGroteskNeue"/>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072081" y="0"/>
            <a:ext cx="5486400" cy="8229600"/>
          </a:xfrm>
          <a:prstGeom prst="rect">
            <a:avLst/>
          </a:prstGeom>
        </p:spPr>
      </p:pic>
      <p:sp>
        <p:nvSpPr>
          <p:cNvPr id="3" name="Text 0"/>
          <p:cNvSpPr/>
          <p:nvPr/>
        </p:nvSpPr>
        <p:spPr>
          <a:xfrm>
            <a:off x="793790" y="1821180"/>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WikiLeaks: Exposing Truth or Threatening Security?</a:t>
            </a:r>
            <a:endParaRPr lang="en-US" sz="4450" dirty="0"/>
          </a:p>
        </p:txBody>
      </p:sp>
      <p:sp>
        <p:nvSpPr>
          <p:cNvPr id="4" name="Text 1"/>
          <p:cNvSpPr/>
          <p:nvPr/>
        </p:nvSpPr>
        <p:spPr>
          <a:xfrm>
            <a:off x="793790" y="3578900"/>
            <a:ext cx="7556421" cy="2177415"/>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WikiLeaks, a non-profit media organization, was founded in 2006. Julian Assange sought to bring important news to the public. WikiLeaks publishes classified documents and media. It aims to expose human rights violations, corruption, and government misconduct. The organization has faced significant debate and legal challenges.</a:t>
            </a:r>
            <a:endParaRPr lang="en-US" sz="1750" dirty="0"/>
          </a:p>
        </p:txBody>
      </p:sp>
      <p:sp>
        <p:nvSpPr>
          <p:cNvPr id="5" name="Shape 2"/>
          <p:cNvSpPr/>
          <p:nvPr/>
        </p:nvSpPr>
        <p:spPr>
          <a:xfrm>
            <a:off x="793790" y="6028373"/>
            <a:ext cx="362903" cy="362903"/>
          </a:xfrm>
          <a:prstGeom prst="roundRect">
            <a:avLst>
              <a:gd name="adj" fmla="val 25194296"/>
            </a:avLst>
          </a:prstGeom>
          <a:noFill/>
          <a:ln w="7620">
            <a:solidFill>
              <a:srgbClr val="FFFFFF"/>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801410" y="6035992"/>
            <a:ext cx="347663" cy="347663"/>
          </a:xfrm>
          <a:prstGeom prst="rect">
            <a:avLst/>
          </a:prstGeom>
        </p:spPr>
      </p:pic>
      <p:sp>
        <p:nvSpPr>
          <p:cNvPr id="7" name="Text 3"/>
          <p:cNvSpPr/>
          <p:nvPr/>
        </p:nvSpPr>
        <p:spPr>
          <a:xfrm>
            <a:off x="1270040" y="6011466"/>
            <a:ext cx="2806303" cy="396835"/>
          </a:xfrm>
          <a:prstGeom prst="rect">
            <a:avLst/>
          </a:prstGeom>
          <a:noFill/>
          <a:ln/>
        </p:spPr>
        <p:txBody>
          <a:bodyPr wrap="none" lIns="0" tIns="0" rIns="0" bIns="0" rtlCol="0" anchor="t"/>
          <a:lstStyle/>
          <a:p>
            <a:pPr marL="0" indent="0" algn="l">
              <a:lnSpc>
                <a:spcPts val="3100"/>
              </a:lnSpc>
              <a:buNone/>
            </a:pPr>
            <a:r>
              <a:rPr lang="en-US" sz="2200" b="1" dirty="0">
                <a:solidFill>
                  <a:srgbClr val="C7CDD6"/>
                </a:solidFill>
                <a:latin typeface="Inter Bold" pitchFamily="34" charset="0"/>
                <a:ea typeface="Inter Bold" pitchFamily="34" charset="-122"/>
                <a:cs typeface="Inter Bold" pitchFamily="34" charset="-120"/>
              </a:rPr>
              <a:t>by Timothy Williams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90807"/>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WikiLeaks' Mission and Purpose</a:t>
            </a:r>
            <a:endParaRPr lang="en-US" sz="4450" dirty="0"/>
          </a:p>
        </p:txBody>
      </p:sp>
      <p:pic>
        <p:nvPicPr>
          <p:cNvPr id="4" name="Image 1" descr="preencoded.png"/>
          <p:cNvPicPr>
            <a:picLocks noChangeAspect="1"/>
          </p:cNvPicPr>
          <p:nvPr/>
        </p:nvPicPr>
        <p:blipFill>
          <a:blip r:embed="rId4"/>
          <a:stretch>
            <a:fillRect/>
          </a:stretch>
        </p:blipFill>
        <p:spPr>
          <a:xfrm>
            <a:off x="6280190" y="3448526"/>
            <a:ext cx="566976" cy="566976"/>
          </a:xfrm>
          <a:prstGeom prst="rect">
            <a:avLst/>
          </a:prstGeom>
        </p:spPr>
      </p:pic>
      <p:sp>
        <p:nvSpPr>
          <p:cNvPr id="5" name="Text 1"/>
          <p:cNvSpPr/>
          <p:nvPr/>
        </p:nvSpPr>
        <p:spPr>
          <a:xfrm>
            <a:off x="6280190" y="4242316"/>
            <a:ext cx="2291953"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Global Reach</a:t>
            </a:r>
            <a:endParaRPr lang="en-US" sz="2200" dirty="0"/>
          </a:p>
        </p:txBody>
      </p:sp>
      <p:sp>
        <p:nvSpPr>
          <p:cNvPr id="6" name="Text 2"/>
          <p:cNvSpPr/>
          <p:nvPr/>
        </p:nvSpPr>
        <p:spPr>
          <a:xfrm>
            <a:off x="6280190" y="4732734"/>
            <a:ext cx="2291953"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WikiLeaks seeks to bring important news to a global audience.</a:t>
            </a:r>
            <a:endParaRPr lang="en-US" sz="1750" dirty="0"/>
          </a:p>
        </p:txBody>
      </p:sp>
      <p:pic>
        <p:nvPicPr>
          <p:cNvPr id="7" name="Image 2" descr="preencoded.png"/>
          <p:cNvPicPr>
            <a:picLocks noChangeAspect="1"/>
          </p:cNvPicPr>
          <p:nvPr/>
        </p:nvPicPr>
        <p:blipFill>
          <a:blip r:embed="rId5"/>
          <a:stretch>
            <a:fillRect/>
          </a:stretch>
        </p:blipFill>
        <p:spPr>
          <a:xfrm>
            <a:off x="8912304" y="3448526"/>
            <a:ext cx="566976" cy="566976"/>
          </a:xfrm>
          <a:prstGeom prst="rect">
            <a:avLst/>
          </a:prstGeom>
        </p:spPr>
      </p:pic>
      <p:sp>
        <p:nvSpPr>
          <p:cNvPr id="8" name="Text 3"/>
          <p:cNvSpPr/>
          <p:nvPr/>
        </p:nvSpPr>
        <p:spPr>
          <a:xfrm>
            <a:off x="8912304" y="4242316"/>
            <a:ext cx="2292072" cy="708660"/>
          </a:xfrm>
          <a:prstGeom prst="rect">
            <a:avLst/>
          </a:prstGeom>
          <a:noFill/>
          <a:ln/>
        </p:spPr>
        <p:txBody>
          <a:bodyPr wrap="squar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Anonymous Sources</a:t>
            </a:r>
            <a:endParaRPr lang="en-US" sz="2200" dirty="0"/>
          </a:p>
        </p:txBody>
      </p:sp>
      <p:sp>
        <p:nvSpPr>
          <p:cNvPr id="9" name="Text 4"/>
          <p:cNvSpPr/>
          <p:nvPr/>
        </p:nvSpPr>
        <p:spPr>
          <a:xfrm>
            <a:off x="8912304" y="5087064"/>
            <a:ext cx="2292072"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Publishes classified documents from anonymous sources.</a:t>
            </a:r>
            <a:endParaRPr lang="en-US" sz="1750" dirty="0"/>
          </a:p>
        </p:txBody>
      </p:sp>
      <p:pic>
        <p:nvPicPr>
          <p:cNvPr id="10" name="Image 3" descr="preencoded.png"/>
          <p:cNvPicPr>
            <a:picLocks noChangeAspect="1"/>
          </p:cNvPicPr>
          <p:nvPr/>
        </p:nvPicPr>
        <p:blipFill>
          <a:blip r:embed="rId6"/>
          <a:stretch>
            <a:fillRect/>
          </a:stretch>
        </p:blipFill>
        <p:spPr>
          <a:xfrm>
            <a:off x="11544538" y="3448526"/>
            <a:ext cx="566976" cy="566976"/>
          </a:xfrm>
          <a:prstGeom prst="rect">
            <a:avLst/>
          </a:prstGeom>
        </p:spPr>
      </p:pic>
      <p:sp>
        <p:nvSpPr>
          <p:cNvPr id="11" name="Text 5"/>
          <p:cNvSpPr/>
          <p:nvPr/>
        </p:nvSpPr>
        <p:spPr>
          <a:xfrm>
            <a:off x="11544538" y="4242316"/>
            <a:ext cx="2291953" cy="708660"/>
          </a:xfrm>
          <a:prstGeom prst="rect">
            <a:avLst/>
          </a:prstGeom>
          <a:noFill/>
          <a:ln/>
        </p:spPr>
        <p:txBody>
          <a:bodyPr wrap="squar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Exposing Wrongdoing</a:t>
            </a:r>
            <a:endParaRPr lang="en-US" sz="2200" dirty="0"/>
          </a:p>
        </p:txBody>
      </p:sp>
      <p:sp>
        <p:nvSpPr>
          <p:cNvPr id="12" name="Text 6"/>
          <p:cNvSpPr/>
          <p:nvPr/>
        </p:nvSpPr>
        <p:spPr>
          <a:xfrm>
            <a:off x="11544538" y="5087064"/>
            <a:ext cx="2291953"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Aims to reveal human rights violations and corruption.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1899"/>
          </a:xfrm>
          <a:prstGeom prst="rect">
            <a:avLst/>
          </a:prstGeom>
        </p:spPr>
      </p:pic>
      <p:sp>
        <p:nvSpPr>
          <p:cNvPr id="3" name="Text 0"/>
          <p:cNvSpPr/>
          <p:nvPr/>
        </p:nvSpPr>
        <p:spPr>
          <a:xfrm>
            <a:off x="787241" y="3430429"/>
            <a:ext cx="7453193" cy="702826"/>
          </a:xfrm>
          <a:prstGeom prst="rect">
            <a:avLst/>
          </a:prstGeom>
          <a:noFill/>
          <a:ln/>
        </p:spPr>
        <p:txBody>
          <a:bodyPr wrap="none" lIns="0" tIns="0" rIns="0" bIns="0" rtlCol="0" anchor="t"/>
          <a:lstStyle/>
          <a:p>
            <a:pPr marL="0" indent="0">
              <a:lnSpc>
                <a:spcPts val="5500"/>
              </a:lnSpc>
              <a:buNone/>
            </a:pPr>
            <a:r>
              <a:rPr lang="en-US" sz="4400" dirty="0">
                <a:solidFill>
                  <a:srgbClr val="EFD5FA"/>
                </a:solidFill>
                <a:latin typeface="Instrument Sans Medium" pitchFamily="34" charset="0"/>
                <a:ea typeface="Instrument Sans Medium" pitchFamily="34" charset="-122"/>
                <a:cs typeface="Instrument Sans Medium" pitchFamily="34" charset="-120"/>
              </a:rPr>
              <a:t>Major Releases by WikiLeaks</a:t>
            </a:r>
            <a:endParaRPr lang="en-US" sz="4400" dirty="0"/>
          </a:p>
        </p:txBody>
      </p:sp>
      <p:sp>
        <p:nvSpPr>
          <p:cNvPr id="4" name="Shape 1"/>
          <p:cNvSpPr/>
          <p:nvPr/>
        </p:nvSpPr>
        <p:spPr>
          <a:xfrm>
            <a:off x="787241" y="4723686"/>
            <a:ext cx="506135" cy="506135"/>
          </a:xfrm>
          <a:prstGeom prst="roundRect">
            <a:avLst>
              <a:gd name="adj" fmla="val 6667"/>
            </a:avLst>
          </a:prstGeom>
          <a:solidFill>
            <a:srgbClr val="434348"/>
          </a:solidFill>
          <a:ln/>
        </p:spPr>
        <p:txBody>
          <a:bodyPr/>
          <a:lstStyle/>
          <a:p>
            <a:endParaRPr lang="en-US"/>
          </a:p>
        </p:txBody>
      </p:sp>
      <p:sp>
        <p:nvSpPr>
          <p:cNvPr id="5" name="Text 2"/>
          <p:cNvSpPr/>
          <p:nvPr/>
        </p:nvSpPr>
        <p:spPr>
          <a:xfrm>
            <a:off x="974646" y="4807982"/>
            <a:ext cx="131326" cy="337423"/>
          </a:xfrm>
          <a:prstGeom prst="rect">
            <a:avLst/>
          </a:prstGeom>
          <a:noFill/>
          <a:ln/>
        </p:spPr>
        <p:txBody>
          <a:bodyPr wrap="none" lIns="0" tIns="0" rIns="0" bIns="0" rtlCol="0" anchor="t"/>
          <a:lstStyle/>
          <a:p>
            <a:pPr marL="0" indent="0" algn="ctr">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1</a:t>
            </a:r>
            <a:endParaRPr lang="en-US" sz="2650" dirty="0"/>
          </a:p>
        </p:txBody>
      </p:sp>
      <p:sp>
        <p:nvSpPr>
          <p:cNvPr id="6" name="Text 3"/>
          <p:cNvSpPr/>
          <p:nvPr/>
        </p:nvSpPr>
        <p:spPr>
          <a:xfrm>
            <a:off x="1518285" y="4723686"/>
            <a:ext cx="2811899" cy="351472"/>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Collateral Murder</a:t>
            </a:r>
            <a:endParaRPr lang="en-US" sz="2200" dirty="0"/>
          </a:p>
        </p:txBody>
      </p:sp>
      <p:sp>
        <p:nvSpPr>
          <p:cNvPr id="7" name="Text 4"/>
          <p:cNvSpPr/>
          <p:nvPr/>
        </p:nvSpPr>
        <p:spPr>
          <a:xfrm>
            <a:off x="1518285" y="5210056"/>
            <a:ext cx="5684520" cy="719614"/>
          </a:xfrm>
          <a:prstGeom prst="rect">
            <a:avLst/>
          </a:prstGeom>
          <a:noFill/>
          <a:ln/>
        </p:spPr>
        <p:txBody>
          <a:bodyPr wrap="square" lIns="0" tIns="0" rIns="0" bIns="0" rtlCol="0" anchor="t"/>
          <a:lstStyle/>
          <a:p>
            <a:pPr marL="0" indent="0">
              <a:lnSpc>
                <a:spcPts val="2800"/>
              </a:lnSpc>
              <a:buNone/>
            </a:pPr>
            <a:r>
              <a:rPr lang="en-US" sz="1750" dirty="0">
                <a:solidFill>
                  <a:srgbClr val="C7CDD6"/>
                </a:solidFill>
                <a:latin typeface="Inter" pitchFamily="34" charset="0"/>
                <a:ea typeface="Inter" pitchFamily="34" charset="-122"/>
                <a:cs typeface="Inter" pitchFamily="34" charset="-120"/>
              </a:rPr>
              <a:t>2007 Baghdad airstrike footage exposed civilian deaths.</a:t>
            </a:r>
            <a:endParaRPr lang="en-US" sz="1750" dirty="0"/>
          </a:p>
        </p:txBody>
      </p:sp>
      <p:sp>
        <p:nvSpPr>
          <p:cNvPr id="8" name="Shape 5"/>
          <p:cNvSpPr/>
          <p:nvPr/>
        </p:nvSpPr>
        <p:spPr>
          <a:xfrm>
            <a:off x="7427714" y="4723686"/>
            <a:ext cx="506135" cy="506135"/>
          </a:xfrm>
          <a:prstGeom prst="roundRect">
            <a:avLst>
              <a:gd name="adj" fmla="val 6667"/>
            </a:avLst>
          </a:prstGeom>
          <a:solidFill>
            <a:srgbClr val="434348"/>
          </a:solidFill>
          <a:ln/>
        </p:spPr>
        <p:txBody>
          <a:bodyPr/>
          <a:lstStyle/>
          <a:p>
            <a:endParaRPr lang="en-US"/>
          </a:p>
        </p:txBody>
      </p:sp>
      <p:sp>
        <p:nvSpPr>
          <p:cNvPr id="9" name="Text 6"/>
          <p:cNvSpPr/>
          <p:nvPr/>
        </p:nvSpPr>
        <p:spPr>
          <a:xfrm>
            <a:off x="7587853" y="4807982"/>
            <a:ext cx="185857" cy="337423"/>
          </a:xfrm>
          <a:prstGeom prst="rect">
            <a:avLst/>
          </a:prstGeom>
          <a:noFill/>
          <a:ln/>
        </p:spPr>
        <p:txBody>
          <a:bodyPr wrap="none" lIns="0" tIns="0" rIns="0" bIns="0" rtlCol="0" anchor="t"/>
          <a:lstStyle/>
          <a:p>
            <a:pPr marL="0" indent="0" algn="ctr">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2</a:t>
            </a:r>
            <a:endParaRPr lang="en-US" sz="2650" dirty="0"/>
          </a:p>
        </p:txBody>
      </p:sp>
      <p:sp>
        <p:nvSpPr>
          <p:cNvPr id="10" name="Text 7"/>
          <p:cNvSpPr/>
          <p:nvPr/>
        </p:nvSpPr>
        <p:spPr>
          <a:xfrm>
            <a:off x="8158758" y="4723686"/>
            <a:ext cx="2811899" cy="351472"/>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War Logs</a:t>
            </a:r>
            <a:endParaRPr lang="en-US" sz="2200" dirty="0"/>
          </a:p>
        </p:txBody>
      </p:sp>
      <p:sp>
        <p:nvSpPr>
          <p:cNvPr id="11" name="Text 8"/>
          <p:cNvSpPr/>
          <p:nvPr/>
        </p:nvSpPr>
        <p:spPr>
          <a:xfrm>
            <a:off x="8158758" y="5210056"/>
            <a:ext cx="5684520" cy="359807"/>
          </a:xfrm>
          <a:prstGeom prst="rect">
            <a:avLst/>
          </a:prstGeom>
          <a:noFill/>
          <a:ln/>
        </p:spPr>
        <p:txBody>
          <a:bodyPr wrap="none" lIns="0" tIns="0" rIns="0" bIns="0" rtlCol="0" anchor="t"/>
          <a:lstStyle/>
          <a:p>
            <a:pPr marL="0" indent="0">
              <a:lnSpc>
                <a:spcPts val="2800"/>
              </a:lnSpc>
              <a:buNone/>
            </a:pPr>
            <a:r>
              <a:rPr lang="en-US" sz="1750" dirty="0">
                <a:solidFill>
                  <a:srgbClr val="C7CDD6"/>
                </a:solidFill>
                <a:latin typeface="Inter" pitchFamily="34" charset="0"/>
                <a:ea typeface="Inter" pitchFamily="34" charset="-122"/>
                <a:cs typeface="Inter" pitchFamily="34" charset="-120"/>
              </a:rPr>
              <a:t>Afghanistan and Iraq war logs revealed war details.</a:t>
            </a:r>
            <a:endParaRPr lang="en-US" sz="1750" dirty="0"/>
          </a:p>
        </p:txBody>
      </p:sp>
      <p:sp>
        <p:nvSpPr>
          <p:cNvPr id="12" name="Shape 9"/>
          <p:cNvSpPr/>
          <p:nvPr/>
        </p:nvSpPr>
        <p:spPr>
          <a:xfrm>
            <a:off x="787241" y="6407587"/>
            <a:ext cx="506135" cy="506135"/>
          </a:xfrm>
          <a:prstGeom prst="roundRect">
            <a:avLst>
              <a:gd name="adj" fmla="val 6667"/>
            </a:avLst>
          </a:prstGeom>
          <a:solidFill>
            <a:srgbClr val="434348"/>
          </a:solidFill>
          <a:ln/>
        </p:spPr>
        <p:txBody>
          <a:bodyPr/>
          <a:lstStyle/>
          <a:p>
            <a:endParaRPr lang="en-US"/>
          </a:p>
        </p:txBody>
      </p:sp>
      <p:sp>
        <p:nvSpPr>
          <p:cNvPr id="13" name="Text 10"/>
          <p:cNvSpPr/>
          <p:nvPr/>
        </p:nvSpPr>
        <p:spPr>
          <a:xfrm>
            <a:off x="942975" y="6491883"/>
            <a:ext cx="194667" cy="337423"/>
          </a:xfrm>
          <a:prstGeom prst="rect">
            <a:avLst/>
          </a:prstGeom>
          <a:noFill/>
          <a:ln/>
        </p:spPr>
        <p:txBody>
          <a:bodyPr wrap="none" lIns="0" tIns="0" rIns="0" bIns="0" rtlCol="0" anchor="t"/>
          <a:lstStyle/>
          <a:p>
            <a:pPr marL="0" indent="0" algn="ctr">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3</a:t>
            </a:r>
            <a:endParaRPr lang="en-US" sz="2650" dirty="0"/>
          </a:p>
        </p:txBody>
      </p:sp>
      <p:sp>
        <p:nvSpPr>
          <p:cNvPr id="14" name="Text 11"/>
          <p:cNvSpPr/>
          <p:nvPr/>
        </p:nvSpPr>
        <p:spPr>
          <a:xfrm>
            <a:off x="1518285" y="6407587"/>
            <a:ext cx="2811899" cy="351472"/>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Diplomatic Cables</a:t>
            </a:r>
            <a:endParaRPr lang="en-US" sz="2200" dirty="0"/>
          </a:p>
        </p:txBody>
      </p:sp>
      <p:sp>
        <p:nvSpPr>
          <p:cNvPr id="15" name="Text 12"/>
          <p:cNvSpPr/>
          <p:nvPr/>
        </p:nvSpPr>
        <p:spPr>
          <a:xfrm>
            <a:off x="1518285" y="6893957"/>
            <a:ext cx="5684520" cy="719614"/>
          </a:xfrm>
          <a:prstGeom prst="rect">
            <a:avLst/>
          </a:prstGeom>
          <a:noFill/>
          <a:ln/>
        </p:spPr>
        <p:txBody>
          <a:bodyPr wrap="square" lIns="0" tIns="0" rIns="0" bIns="0" rtlCol="0" anchor="t"/>
          <a:lstStyle/>
          <a:p>
            <a:pPr marL="0" indent="0">
              <a:lnSpc>
                <a:spcPts val="2800"/>
              </a:lnSpc>
              <a:buNone/>
            </a:pPr>
            <a:r>
              <a:rPr lang="en-US" sz="1750" dirty="0">
                <a:solidFill>
                  <a:srgbClr val="C7CDD6"/>
                </a:solidFill>
                <a:latin typeface="Inter" pitchFamily="34" charset="0"/>
                <a:ea typeface="Inter" pitchFamily="34" charset="-122"/>
                <a:cs typeface="Inter" pitchFamily="34" charset="-120"/>
              </a:rPr>
              <a:t>US diplomatic cables disclosed international relations.</a:t>
            </a:r>
            <a:endParaRPr lang="en-US" sz="1750" dirty="0"/>
          </a:p>
        </p:txBody>
      </p:sp>
      <p:sp>
        <p:nvSpPr>
          <p:cNvPr id="16" name="Shape 13"/>
          <p:cNvSpPr/>
          <p:nvPr/>
        </p:nvSpPr>
        <p:spPr>
          <a:xfrm>
            <a:off x="7427714" y="6407587"/>
            <a:ext cx="506135" cy="506135"/>
          </a:xfrm>
          <a:prstGeom prst="roundRect">
            <a:avLst>
              <a:gd name="adj" fmla="val 6667"/>
            </a:avLst>
          </a:prstGeom>
          <a:solidFill>
            <a:srgbClr val="434348"/>
          </a:solidFill>
          <a:ln/>
        </p:spPr>
        <p:txBody>
          <a:bodyPr/>
          <a:lstStyle/>
          <a:p>
            <a:endParaRPr lang="en-US"/>
          </a:p>
        </p:txBody>
      </p:sp>
      <p:sp>
        <p:nvSpPr>
          <p:cNvPr id="17" name="Text 14"/>
          <p:cNvSpPr/>
          <p:nvPr/>
        </p:nvSpPr>
        <p:spPr>
          <a:xfrm>
            <a:off x="7578328" y="6491883"/>
            <a:ext cx="204787" cy="337423"/>
          </a:xfrm>
          <a:prstGeom prst="rect">
            <a:avLst/>
          </a:prstGeom>
          <a:noFill/>
          <a:ln/>
        </p:spPr>
        <p:txBody>
          <a:bodyPr wrap="none" lIns="0" tIns="0" rIns="0" bIns="0" rtlCol="0" anchor="t"/>
          <a:lstStyle/>
          <a:p>
            <a:pPr marL="0" indent="0" algn="ctr">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4</a:t>
            </a:r>
            <a:endParaRPr lang="en-US" sz="2650" dirty="0"/>
          </a:p>
        </p:txBody>
      </p:sp>
      <p:sp>
        <p:nvSpPr>
          <p:cNvPr id="18" name="Text 15"/>
          <p:cNvSpPr/>
          <p:nvPr/>
        </p:nvSpPr>
        <p:spPr>
          <a:xfrm>
            <a:off x="8158758" y="6407587"/>
            <a:ext cx="2811899" cy="351472"/>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Email Leaks</a:t>
            </a:r>
            <a:endParaRPr lang="en-US" sz="2200" dirty="0"/>
          </a:p>
        </p:txBody>
      </p:sp>
      <p:sp>
        <p:nvSpPr>
          <p:cNvPr id="19" name="Text 16"/>
          <p:cNvSpPr/>
          <p:nvPr/>
        </p:nvSpPr>
        <p:spPr>
          <a:xfrm>
            <a:off x="8158758" y="6893957"/>
            <a:ext cx="5684520" cy="719614"/>
          </a:xfrm>
          <a:prstGeom prst="rect">
            <a:avLst/>
          </a:prstGeom>
          <a:noFill/>
          <a:ln/>
        </p:spPr>
        <p:txBody>
          <a:bodyPr wrap="square" lIns="0" tIns="0" rIns="0" bIns="0" rtlCol="0" anchor="t"/>
          <a:lstStyle/>
          <a:p>
            <a:pPr marL="0" indent="0">
              <a:lnSpc>
                <a:spcPts val="2800"/>
              </a:lnSpc>
              <a:buNone/>
            </a:pPr>
            <a:r>
              <a:rPr lang="en-US" sz="1750" dirty="0">
                <a:solidFill>
                  <a:srgbClr val="C7CDD6"/>
                </a:solidFill>
                <a:latin typeface="Inter" pitchFamily="34" charset="0"/>
                <a:ea typeface="Inter" pitchFamily="34" charset="-122"/>
                <a:cs typeface="Inter" pitchFamily="34" charset="-120"/>
              </a:rPr>
              <a:t>Emails from governments exposed internal communications.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05564"/>
            <a:ext cx="6771442" cy="708779"/>
          </a:xfrm>
          <a:prstGeom prst="rect">
            <a:avLst/>
          </a:prstGeom>
          <a:noFill/>
          <a:ln/>
        </p:spPr>
        <p:txBody>
          <a:bodyPr wrap="none" lIns="0" tIns="0" rIns="0" bIns="0" rtlCol="0" anchor="t"/>
          <a:lstStyle/>
          <a:p>
            <a:pPr marL="0" indent="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Impact and Controversies</a:t>
            </a:r>
            <a:endParaRPr lang="en-US" sz="4450" dirty="0"/>
          </a:p>
        </p:txBody>
      </p:sp>
      <p:sp>
        <p:nvSpPr>
          <p:cNvPr id="4" name="Text 1"/>
          <p:cNvSpPr/>
          <p:nvPr/>
        </p:nvSpPr>
        <p:spPr>
          <a:xfrm>
            <a:off x="1133951" y="2009656"/>
            <a:ext cx="7216259" cy="1451610"/>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WikiLeaks has significantly impacted human rights discussions and political events, particularly the 2016 US election, while facing criticism for potentially compromising national security and promoting conspiracy theories.</a:t>
            </a:r>
            <a:endParaRPr lang="en-US" sz="1750" dirty="0"/>
          </a:p>
        </p:txBody>
      </p:sp>
      <p:sp>
        <p:nvSpPr>
          <p:cNvPr id="5" name="Shape 2"/>
          <p:cNvSpPr/>
          <p:nvPr/>
        </p:nvSpPr>
        <p:spPr>
          <a:xfrm>
            <a:off x="793790" y="1754505"/>
            <a:ext cx="30480" cy="1961912"/>
          </a:xfrm>
          <a:prstGeom prst="rect">
            <a:avLst/>
          </a:prstGeom>
          <a:solidFill>
            <a:srgbClr val="FDC4C4"/>
          </a:solidFill>
          <a:ln/>
        </p:spPr>
        <p:txBody>
          <a:bodyPr/>
          <a:lstStyle/>
          <a:p>
            <a:endParaRPr lang="en-US"/>
          </a:p>
        </p:txBody>
      </p:sp>
      <p:sp>
        <p:nvSpPr>
          <p:cNvPr id="6" name="Text 3"/>
          <p:cNvSpPr/>
          <p:nvPr/>
        </p:nvSpPr>
        <p:spPr>
          <a:xfrm>
            <a:off x="793790" y="4198382"/>
            <a:ext cx="2149554" cy="354330"/>
          </a:xfrm>
          <a:prstGeom prst="rect">
            <a:avLst/>
          </a:prstGeom>
          <a:noFill/>
          <a:ln/>
        </p:spPr>
        <p:txBody>
          <a:bodyPr wrap="none" lIns="0" tIns="0" rIns="0" bIns="0" rtlCol="0" anchor="t"/>
          <a:lstStyle/>
          <a:p>
            <a:pPr marL="0" indent="0">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Human Rights</a:t>
            </a:r>
            <a:endParaRPr lang="en-US" sz="2200" dirty="0"/>
          </a:p>
        </p:txBody>
      </p:sp>
      <p:sp>
        <p:nvSpPr>
          <p:cNvPr id="7" name="Text 4"/>
          <p:cNvSpPr/>
          <p:nvPr/>
        </p:nvSpPr>
        <p:spPr>
          <a:xfrm>
            <a:off x="793790" y="4779526"/>
            <a:ext cx="2149554" cy="1451610"/>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Exposed serious violations of human rights and civil liberties.</a:t>
            </a:r>
            <a:endParaRPr lang="en-US" sz="1750" dirty="0"/>
          </a:p>
        </p:txBody>
      </p:sp>
      <p:sp>
        <p:nvSpPr>
          <p:cNvPr id="8" name="Text 5"/>
          <p:cNvSpPr/>
          <p:nvPr/>
        </p:nvSpPr>
        <p:spPr>
          <a:xfrm>
            <a:off x="3504367" y="4198382"/>
            <a:ext cx="2149554" cy="354330"/>
          </a:xfrm>
          <a:prstGeom prst="rect">
            <a:avLst/>
          </a:prstGeom>
          <a:noFill/>
          <a:ln/>
        </p:spPr>
        <p:txBody>
          <a:bodyPr wrap="none" lIns="0" tIns="0" rIns="0" bIns="0" rtlCol="0" anchor="t"/>
          <a:lstStyle/>
          <a:p>
            <a:pPr marL="0" indent="0">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US Election</a:t>
            </a:r>
            <a:endParaRPr lang="en-US" sz="2200" dirty="0"/>
          </a:p>
        </p:txBody>
      </p:sp>
      <p:sp>
        <p:nvSpPr>
          <p:cNvPr id="9" name="Text 6"/>
          <p:cNvSpPr/>
          <p:nvPr/>
        </p:nvSpPr>
        <p:spPr>
          <a:xfrm>
            <a:off x="3504367" y="4779526"/>
            <a:ext cx="2149554" cy="1451610"/>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Influenced the 2016 US election with DNC email releases.</a:t>
            </a:r>
            <a:endParaRPr lang="en-US" sz="1750" dirty="0"/>
          </a:p>
        </p:txBody>
      </p:sp>
      <p:sp>
        <p:nvSpPr>
          <p:cNvPr id="10" name="Text 7"/>
          <p:cNvSpPr/>
          <p:nvPr/>
        </p:nvSpPr>
        <p:spPr>
          <a:xfrm>
            <a:off x="6214943" y="4198382"/>
            <a:ext cx="2149554" cy="354330"/>
          </a:xfrm>
          <a:prstGeom prst="rect">
            <a:avLst/>
          </a:prstGeom>
          <a:noFill/>
          <a:ln/>
        </p:spPr>
        <p:txBody>
          <a:bodyPr wrap="none" lIns="0" tIns="0" rIns="0" bIns="0" rtlCol="0" anchor="t"/>
          <a:lstStyle/>
          <a:p>
            <a:pPr marL="0" indent="0">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Criticism</a:t>
            </a:r>
            <a:endParaRPr lang="en-US" sz="2200" dirty="0"/>
          </a:p>
        </p:txBody>
      </p:sp>
      <p:sp>
        <p:nvSpPr>
          <p:cNvPr id="11" name="Text 8"/>
          <p:cNvSpPr/>
          <p:nvPr/>
        </p:nvSpPr>
        <p:spPr>
          <a:xfrm>
            <a:off x="6214943" y="4779526"/>
            <a:ext cx="2149554" cy="2540318"/>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Criticized for promoting conspiracy theories. Some believe WikiLeaks compromises national security.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35092"/>
            <a:ext cx="5644039" cy="637937"/>
          </a:xfrm>
          <a:prstGeom prst="rect">
            <a:avLst/>
          </a:prstGeom>
          <a:noFill/>
          <a:ln/>
        </p:spPr>
        <p:txBody>
          <a:bodyPr wrap="none" lIns="0" tIns="0" rIns="0" bIns="0" rtlCol="0" anchor="t"/>
          <a:lstStyle/>
          <a:p>
            <a:pPr marL="0" indent="0">
              <a:lnSpc>
                <a:spcPts val="5000"/>
              </a:lnSpc>
              <a:buNone/>
            </a:pPr>
            <a:r>
              <a:rPr lang="en-US" sz="4000" dirty="0">
                <a:solidFill>
                  <a:srgbClr val="EFD5FA"/>
                </a:solidFill>
                <a:latin typeface="Instrument Sans Medium" pitchFamily="34" charset="0"/>
                <a:ea typeface="Instrument Sans Medium" pitchFamily="34" charset="-122"/>
                <a:cs typeface="Instrument Sans Medium" pitchFamily="34" charset="-120"/>
              </a:rPr>
              <a:t>Technical Infrastructure</a:t>
            </a:r>
            <a:endParaRPr lang="en-US" sz="4000" dirty="0"/>
          </a:p>
        </p:txBody>
      </p:sp>
      <p:pic>
        <p:nvPicPr>
          <p:cNvPr id="4" name="Image 1" descr="preencoded.png"/>
          <p:cNvPicPr>
            <a:picLocks noChangeAspect="1"/>
          </p:cNvPicPr>
          <p:nvPr/>
        </p:nvPicPr>
        <p:blipFill>
          <a:blip r:embed="rId4"/>
          <a:stretch>
            <a:fillRect/>
          </a:stretch>
        </p:blipFill>
        <p:spPr>
          <a:xfrm>
            <a:off x="7329488" y="1679138"/>
            <a:ext cx="1020723" cy="1829514"/>
          </a:xfrm>
          <a:prstGeom prst="rect">
            <a:avLst/>
          </a:prstGeom>
        </p:spPr>
      </p:pic>
      <p:sp>
        <p:nvSpPr>
          <p:cNvPr id="5" name="Text 1"/>
          <p:cNvSpPr/>
          <p:nvPr/>
        </p:nvSpPr>
        <p:spPr>
          <a:xfrm>
            <a:off x="4471630" y="1883212"/>
            <a:ext cx="2551748" cy="318849"/>
          </a:xfrm>
          <a:prstGeom prst="rect">
            <a:avLst/>
          </a:prstGeom>
          <a:noFill/>
          <a:ln/>
        </p:spPr>
        <p:txBody>
          <a:bodyPr wrap="none" lIns="0" tIns="0" rIns="0" bIns="0" rtlCol="0" anchor="t"/>
          <a:lstStyle/>
          <a:p>
            <a:pPr marL="0" indent="0" algn="r">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Rebuilt Security</a:t>
            </a:r>
            <a:endParaRPr lang="en-US" sz="2000" dirty="0"/>
          </a:p>
        </p:txBody>
      </p:sp>
      <p:sp>
        <p:nvSpPr>
          <p:cNvPr id="6" name="Text 2"/>
          <p:cNvSpPr/>
          <p:nvPr/>
        </p:nvSpPr>
        <p:spPr>
          <a:xfrm>
            <a:off x="793790" y="2324457"/>
            <a:ext cx="6229588" cy="980123"/>
          </a:xfrm>
          <a:prstGeom prst="rect">
            <a:avLst/>
          </a:prstGeom>
          <a:noFill/>
          <a:ln/>
        </p:spPr>
        <p:txBody>
          <a:bodyPr wrap="square" lIns="0" tIns="0" rIns="0" bIns="0" rtlCol="0" anchor="t"/>
          <a:lstStyle/>
          <a:p>
            <a:pPr marL="0" indent="0" algn="r">
              <a:lnSpc>
                <a:spcPts val="2550"/>
              </a:lnSpc>
              <a:buNone/>
            </a:pPr>
            <a:r>
              <a:rPr lang="en-US" sz="1600" dirty="0">
                <a:solidFill>
                  <a:srgbClr val="C7CDD6"/>
                </a:solidFill>
                <a:latin typeface="Inter" pitchFamily="34" charset="0"/>
                <a:ea typeface="Inter" pitchFamily="34" charset="-122"/>
                <a:cs typeface="Inter" pitchFamily="34" charset="-120"/>
              </a:rPr>
              <a:t>Following security breaches, WikiLeaks' infrastructure was rebuilt by "The Architect," enhancing encryption and anonymity measures for data handling.</a:t>
            </a:r>
            <a:endParaRPr lang="en-US" sz="1600" dirty="0"/>
          </a:p>
        </p:txBody>
      </p:sp>
      <p:pic>
        <p:nvPicPr>
          <p:cNvPr id="7" name="Image 2" descr="preencoded.png"/>
          <p:cNvPicPr>
            <a:picLocks noChangeAspect="1"/>
          </p:cNvPicPr>
          <p:nvPr/>
        </p:nvPicPr>
        <p:blipFill>
          <a:blip r:embed="rId5"/>
          <a:stretch>
            <a:fillRect/>
          </a:stretch>
        </p:blipFill>
        <p:spPr>
          <a:xfrm>
            <a:off x="7329488" y="3508653"/>
            <a:ext cx="1020723" cy="1829514"/>
          </a:xfrm>
          <a:prstGeom prst="rect">
            <a:avLst/>
          </a:prstGeom>
        </p:spPr>
      </p:pic>
      <p:sp>
        <p:nvSpPr>
          <p:cNvPr id="8" name="Text 3"/>
          <p:cNvSpPr/>
          <p:nvPr/>
        </p:nvSpPr>
        <p:spPr>
          <a:xfrm>
            <a:off x="4471630" y="3712726"/>
            <a:ext cx="2551748" cy="318849"/>
          </a:xfrm>
          <a:prstGeom prst="rect">
            <a:avLst/>
          </a:prstGeom>
          <a:noFill/>
          <a:ln/>
        </p:spPr>
        <p:txBody>
          <a:bodyPr wrap="none" lIns="0" tIns="0" rIns="0" bIns="0" rtlCol="0" anchor="t"/>
          <a:lstStyle/>
          <a:p>
            <a:pPr marL="0" indent="0" algn="r">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Multiple Servers</a:t>
            </a:r>
            <a:endParaRPr lang="en-US" sz="2000" dirty="0"/>
          </a:p>
        </p:txBody>
      </p:sp>
      <p:sp>
        <p:nvSpPr>
          <p:cNvPr id="9" name="Text 4"/>
          <p:cNvSpPr/>
          <p:nvPr/>
        </p:nvSpPr>
        <p:spPr>
          <a:xfrm>
            <a:off x="793790" y="4153972"/>
            <a:ext cx="6229588" cy="980123"/>
          </a:xfrm>
          <a:prstGeom prst="rect">
            <a:avLst/>
          </a:prstGeom>
          <a:noFill/>
          <a:ln/>
        </p:spPr>
        <p:txBody>
          <a:bodyPr wrap="square" lIns="0" tIns="0" rIns="0" bIns="0" rtlCol="0" anchor="t"/>
          <a:lstStyle/>
          <a:p>
            <a:pPr marL="0" indent="0" algn="r">
              <a:lnSpc>
                <a:spcPts val="2550"/>
              </a:lnSpc>
              <a:buNone/>
            </a:pPr>
            <a:r>
              <a:rPr lang="en-US" sz="1600" dirty="0">
                <a:solidFill>
                  <a:srgbClr val="C7CDD6"/>
                </a:solidFill>
                <a:latin typeface="Inter" pitchFamily="34" charset="0"/>
                <a:ea typeface="Inter" pitchFamily="34" charset="-122"/>
                <a:cs typeface="Inter" pitchFamily="34" charset="-120"/>
              </a:rPr>
              <a:t>To avoid censorship and legal action, WikiLeaks distributes its servers across various countries with strong protections for freedom of speech.</a:t>
            </a:r>
            <a:endParaRPr lang="en-US" sz="1600" dirty="0"/>
          </a:p>
        </p:txBody>
      </p:sp>
      <p:pic>
        <p:nvPicPr>
          <p:cNvPr id="10" name="Image 3" descr="preencoded.png"/>
          <p:cNvPicPr>
            <a:picLocks noChangeAspect="1"/>
          </p:cNvPicPr>
          <p:nvPr/>
        </p:nvPicPr>
        <p:blipFill>
          <a:blip r:embed="rId6"/>
          <a:stretch>
            <a:fillRect/>
          </a:stretch>
        </p:blipFill>
        <p:spPr>
          <a:xfrm>
            <a:off x="7329488" y="5338167"/>
            <a:ext cx="1020723" cy="2156222"/>
          </a:xfrm>
          <a:prstGeom prst="rect">
            <a:avLst/>
          </a:prstGeom>
        </p:spPr>
      </p:pic>
      <p:sp>
        <p:nvSpPr>
          <p:cNvPr id="11" name="Text 5"/>
          <p:cNvSpPr/>
          <p:nvPr/>
        </p:nvSpPr>
        <p:spPr>
          <a:xfrm>
            <a:off x="4471630" y="5542240"/>
            <a:ext cx="2551748" cy="318849"/>
          </a:xfrm>
          <a:prstGeom prst="rect">
            <a:avLst/>
          </a:prstGeom>
          <a:noFill/>
          <a:ln/>
        </p:spPr>
        <p:txBody>
          <a:bodyPr wrap="none" lIns="0" tIns="0" rIns="0" bIns="0" rtlCol="0" anchor="t"/>
          <a:lstStyle/>
          <a:p>
            <a:pPr marL="0" indent="0" algn="r">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Insurance Files</a:t>
            </a:r>
            <a:endParaRPr lang="en-US" sz="2000" dirty="0"/>
          </a:p>
        </p:txBody>
      </p:sp>
      <p:sp>
        <p:nvSpPr>
          <p:cNvPr id="12" name="Text 6"/>
          <p:cNvSpPr/>
          <p:nvPr/>
        </p:nvSpPr>
        <p:spPr>
          <a:xfrm>
            <a:off x="793790" y="5983486"/>
            <a:ext cx="6229588" cy="1306830"/>
          </a:xfrm>
          <a:prstGeom prst="rect">
            <a:avLst/>
          </a:prstGeom>
          <a:noFill/>
          <a:ln/>
        </p:spPr>
        <p:txBody>
          <a:bodyPr wrap="square" lIns="0" tIns="0" rIns="0" bIns="0" rtlCol="0" anchor="t"/>
          <a:lstStyle/>
          <a:p>
            <a:pPr marL="0" indent="0" algn="r">
              <a:lnSpc>
                <a:spcPts val="2550"/>
              </a:lnSpc>
              <a:buNone/>
            </a:pPr>
            <a:r>
              <a:rPr lang="en-US" sz="1600" dirty="0">
                <a:solidFill>
                  <a:srgbClr val="C7CDD6"/>
                </a:solidFill>
                <a:latin typeface="Inter" pitchFamily="34" charset="0"/>
                <a:ea typeface="Inter" pitchFamily="34" charset="-122"/>
                <a:cs typeface="Inter" pitchFamily="34" charset="-120"/>
              </a:rPr>
              <a:t>Large, encrypted "insurance" files are created as a precautionary measure; these are released if WikiLeaks or Julian Assange face existential threats, ensuring continued transparency.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09944"/>
          </a:xfrm>
          <a:prstGeom prst="rect">
            <a:avLst/>
          </a:prstGeom>
        </p:spPr>
      </p:pic>
      <p:sp>
        <p:nvSpPr>
          <p:cNvPr id="3" name="Text 0"/>
          <p:cNvSpPr/>
          <p:nvPr/>
        </p:nvSpPr>
        <p:spPr>
          <a:xfrm>
            <a:off x="793790" y="3186946"/>
            <a:ext cx="6846332" cy="602456"/>
          </a:xfrm>
          <a:prstGeom prst="rect">
            <a:avLst/>
          </a:prstGeom>
          <a:noFill/>
          <a:ln/>
        </p:spPr>
        <p:txBody>
          <a:bodyPr wrap="none" lIns="0" tIns="0" rIns="0" bIns="0" rtlCol="0" anchor="t"/>
          <a:lstStyle/>
          <a:p>
            <a:pPr marL="0" indent="0">
              <a:lnSpc>
                <a:spcPts val="4700"/>
              </a:lnSpc>
              <a:buNone/>
            </a:pPr>
            <a:r>
              <a:rPr lang="en-US" sz="3750" dirty="0">
                <a:solidFill>
                  <a:srgbClr val="EFD5FA"/>
                </a:solidFill>
                <a:latin typeface="Instrument Sans Medium" pitchFamily="34" charset="0"/>
                <a:ea typeface="Instrument Sans Medium" pitchFamily="34" charset="-122"/>
                <a:cs typeface="Instrument Sans Medium" pitchFamily="34" charset="-120"/>
              </a:rPr>
              <a:t>Challenges and Current Status</a:t>
            </a:r>
            <a:endParaRPr lang="en-US" sz="3750" dirty="0"/>
          </a:p>
        </p:txBody>
      </p:sp>
      <p:sp>
        <p:nvSpPr>
          <p:cNvPr id="4" name="Shape 1"/>
          <p:cNvSpPr/>
          <p:nvPr/>
        </p:nvSpPr>
        <p:spPr>
          <a:xfrm>
            <a:off x="7303770" y="4078605"/>
            <a:ext cx="22860" cy="3373874"/>
          </a:xfrm>
          <a:prstGeom prst="roundRect">
            <a:avLst>
              <a:gd name="adj" fmla="val 126512"/>
            </a:avLst>
          </a:prstGeom>
          <a:solidFill>
            <a:srgbClr val="5C5C61"/>
          </a:solidFill>
          <a:ln/>
        </p:spPr>
        <p:txBody>
          <a:bodyPr/>
          <a:lstStyle/>
          <a:p>
            <a:endParaRPr lang="en-US"/>
          </a:p>
        </p:txBody>
      </p:sp>
      <p:sp>
        <p:nvSpPr>
          <p:cNvPr id="5" name="Shape 2"/>
          <p:cNvSpPr/>
          <p:nvPr/>
        </p:nvSpPr>
        <p:spPr>
          <a:xfrm>
            <a:off x="6446460" y="4500801"/>
            <a:ext cx="674727" cy="22860"/>
          </a:xfrm>
          <a:prstGeom prst="roundRect">
            <a:avLst>
              <a:gd name="adj" fmla="val 126512"/>
            </a:avLst>
          </a:prstGeom>
          <a:solidFill>
            <a:srgbClr val="5C5C61"/>
          </a:solidFill>
          <a:ln/>
        </p:spPr>
        <p:txBody>
          <a:bodyPr/>
          <a:lstStyle/>
          <a:p>
            <a:endParaRPr lang="en-US"/>
          </a:p>
        </p:txBody>
      </p:sp>
      <p:sp>
        <p:nvSpPr>
          <p:cNvPr id="6" name="Shape 3"/>
          <p:cNvSpPr/>
          <p:nvPr/>
        </p:nvSpPr>
        <p:spPr>
          <a:xfrm>
            <a:off x="7098328" y="4295418"/>
            <a:ext cx="433745" cy="433745"/>
          </a:xfrm>
          <a:prstGeom prst="roundRect">
            <a:avLst>
              <a:gd name="adj" fmla="val 6668"/>
            </a:avLst>
          </a:prstGeom>
          <a:solidFill>
            <a:srgbClr val="434348"/>
          </a:solidFill>
          <a:ln/>
        </p:spPr>
        <p:txBody>
          <a:bodyPr/>
          <a:lstStyle/>
          <a:p>
            <a:endParaRPr lang="en-US"/>
          </a:p>
        </p:txBody>
      </p:sp>
      <p:sp>
        <p:nvSpPr>
          <p:cNvPr id="7" name="Text 4"/>
          <p:cNvSpPr/>
          <p:nvPr/>
        </p:nvSpPr>
        <p:spPr>
          <a:xfrm>
            <a:off x="7258943" y="4367689"/>
            <a:ext cx="112514" cy="289203"/>
          </a:xfrm>
          <a:prstGeom prst="rect">
            <a:avLst/>
          </a:prstGeom>
          <a:noFill/>
          <a:ln/>
        </p:spPr>
        <p:txBody>
          <a:bodyPr wrap="none" lIns="0" tIns="0" rIns="0" bIns="0" rtlCol="0" anchor="t"/>
          <a:lstStyle/>
          <a:p>
            <a:pPr marL="0" indent="0" algn="ctr">
              <a:lnSpc>
                <a:spcPts val="2250"/>
              </a:lnSpc>
              <a:buNone/>
            </a:pPr>
            <a:r>
              <a:rPr lang="en-US" sz="2250" dirty="0">
                <a:solidFill>
                  <a:srgbClr val="C7CDD6"/>
                </a:solidFill>
                <a:latin typeface="Instrument Sans Medium" pitchFamily="34" charset="0"/>
                <a:ea typeface="Instrument Sans Medium" pitchFamily="34" charset="-122"/>
                <a:cs typeface="Instrument Sans Medium" pitchFamily="34" charset="-120"/>
              </a:rPr>
              <a:t>1</a:t>
            </a:r>
            <a:endParaRPr lang="en-US" sz="2250" dirty="0"/>
          </a:p>
        </p:txBody>
      </p:sp>
      <p:sp>
        <p:nvSpPr>
          <p:cNvPr id="8" name="Text 5"/>
          <p:cNvSpPr/>
          <p:nvPr/>
        </p:nvSpPr>
        <p:spPr>
          <a:xfrm>
            <a:off x="3844885" y="4271367"/>
            <a:ext cx="2409944" cy="301228"/>
          </a:xfrm>
          <a:prstGeom prst="rect">
            <a:avLst/>
          </a:prstGeom>
          <a:noFill/>
          <a:ln/>
        </p:spPr>
        <p:txBody>
          <a:bodyPr wrap="none" lIns="0" tIns="0" rIns="0" bIns="0" rtlCol="0" anchor="t"/>
          <a:lstStyle/>
          <a:p>
            <a:pPr marL="0" indent="0" algn="r">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Submission Offline</a:t>
            </a:r>
            <a:endParaRPr lang="en-US" sz="1850" dirty="0"/>
          </a:p>
        </p:txBody>
      </p:sp>
      <p:sp>
        <p:nvSpPr>
          <p:cNvPr id="9" name="Text 6"/>
          <p:cNvSpPr/>
          <p:nvPr/>
        </p:nvSpPr>
        <p:spPr>
          <a:xfrm>
            <a:off x="793790" y="4688205"/>
            <a:ext cx="5461040" cy="308372"/>
          </a:xfrm>
          <a:prstGeom prst="rect">
            <a:avLst/>
          </a:prstGeom>
          <a:noFill/>
          <a:ln/>
        </p:spPr>
        <p:txBody>
          <a:bodyPr wrap="none" lIns="0" tIns="0" rIns="0" bIns="0" rtlCol="0" anchor="t"/>
          <a:lstStyle/>
          <a:p>
            <a:pPr marL="0" indent="0" algn="r">
              <a:lnSpc>
                <a:spcPts val="2400"/>
              </a:lnSpc>
              <a:buNone/>
            </a:pPr>
            <a:r>
              <a:rPr lang="en-US" sz="1500" dirty="0">
                <a:solidFill>
                  <a:srgbClr val="C7CDD6"/>
                </a:solidFill>
                <a:latin typeface="Inter" pitchFamily="34" charset="0"/>
                <a:ea typeface="Inter" pitchFamily="34" charset="-122"/>
                <a:cs typeface="Inter" pitchFamily="34" charset="-120"/>
              </a:rPr>
              <a:t>System was offline from 2010 to 2015.</a:t>
            </a:r>
            <a:endParaRPr lang="en-US" sz="1500" dirty="0"/>
          </a:p>
        </p:txBody>
      </p:sp>
      <p:sp>
        <p:nvSpPr>
          <p:cNvPr id="10" name="Shape 7"/>
          <p:cNvSpPr/>
          <p:nvPr/>
        </p:nvSpPr>
        <p:spPr>
          <a:xfrm>
            <a:off x="7509212" y="5464731"/>
            <a:ext cx="674727" cy="22860"/>
          </a:xfrm>
          <a:prstGeom prst="roundRect">
            <a:avLst>
              <a:gd name="adj" fmla="val 126512"/>
            </a:avLst>
          </a:prstGeom>
          <a:solidFill>
            <a:srgbClr val="5C5C61"/>
          </a:solidFill>
          <a:ln/>
        </p:spPr>
        <p:txBody>
          <a:bodyPr/>
          <a:lstStyle/>
          <a:p>
            <a:endParaRPr lang="en-US"/>
          </a:p>
        </p:txBody>
      </p:sp>
      <p:sp>
        <p:nvSpPr>
          <p:cNvPr id="11" name="Shape 8"/>
          <p:cNvSpPr/>
          <p:nvPr/>
        </p:nvSpPr>
        <p:spPr>
          <a:xfrm>
            <a:off x="7098328" y="5259348"/>
            <a:ext cx="433745" cy="433745"/>
          </a:xfrm>
          <a:prstGeom prst="roundRect">
            <a:avLst>
              <a:gd name="adj" fmla="val 6668"/>
            </a:avLst>
          </a:prstGeom>
          <a:solidFill>
            <a:srgbClr val="434348"/>
          </a:solidFill>
          <a:ln/>
        </p:spPr>
        <p:txBody>
          <a:bodyPr/>
          <a:lstStyle/>
          <a:p>
            <a:endParaRPr lang="en-US"/>
          </a:p>
        </p:txBody>
      </p:sp>
      <p:sp>
        <p:nvSpPr>
          <p:cNvPr id="12" name="Text 9"/>
          <p:cNvSpPr/>
          <p:nvPr/>
        </p:nvSpPr>
        <p:spPr>
          <a:xfrm>
            <a:off x="7235488" y="5331619"/>
            <a:ext cx="159306" cy="289203"/>
          </a:xfrm>
          <a:prstGeom prst="rect">
            <a:avLst/>
          </a:prstGeom>
          <a:noFill/>
          <a:ln/>
        </p:spPr>
        <p:txBody>
          <a:bodyPr wrap="none" lIns="0" tIns="0" rIns="0" bIns="0" rtlCol="0" anchor="t"/>
          <a:lstStyle/>
          <a:p>
            <a:pPr marL="0" indent="0" algn="ctr">
              <a:lnSpc>
                <a:spcPts val="2250"/>
              </a:lnSpc>
              <a:buNone/>
            </a:pPr>
            <a:r>
              <a:rPr lang="en-US" sz="2250" dirty="0">
                <a:solidFill>
                  <a:srgbClr val="C7CDD6"/>
                </a:solidFill>
                <a:latin typeface="Instrument Sans Medium" pitchFamily="34" charset="0"/>
                <a:ea typeface="Instrument Sans Medium" pitchFamily="34" charset="-122"/>
                <a:cs typeface="Instrument Sans Medium" pitchFamily="34" charset="-120"/>
              </a:rPr>
              <a:t>2</a:t>
            </a:r>
            <a:endParaRPr lang="en-US" sz="2250" dirty="0"/>
          </a:p>
        </p:txBody>
      </p:sp>
      <p:sp>
        <p:nvSpPr>
          <p:cNvPr id="13" name="Text 10"/>
          <p:cNvSpPr/>
          <p:nvPr/>
        </p:nvSpPr>
        <p:spPr>
          <a:xfrm>
            <a:off x="8375571" y="5235297"/>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Funding Issues</a:t>
            </a:r>
            <a:endParaRPr lang="en-US" sz="1850" dirty="0"/>
          </a:p>
        </p:txBody>
      </p:sp>
      <p:sp>
        <p:nvSpPr>
          <p:cNvPr id="14" name="Text 11"/>
          <p:cNvSpPr/>
          <p:nvPr/>
        </p:nvSpPr>
        <p:spPr>
          <a:xfrm>
            <a:off x="8375571" y="5652135"/>
            <a:ext cx="5461040" cy="308372"/>
          </a:xfrm>
          <a:prstGeom prst="rect">
            <a:avLst/>
          </a:prstGeom>
          <a:noFill/>
          <a:ln/>
        </p:spPr>
        <p:txBody>
          <a:bodyPr wrap="none" lIns="0" tIns="0" rIns="0" bIns="0" rtlCol="0" anchor="t"/>
          <a:lstStyle/>
          <a:p>
            <a:pPr marL="0" indent="0" algn="l">
              <a:lnSpc>
                <a:spcPts val="2400"/>
              </a:lnSpc>
              <a:buNone/>
            </a:pPr>
            <a:r>
              <a:rPr lang="en-US" sz="1500" dirty="0">
                <a:solidFill>
                  <a:srgbClr val="C7CDD6"/>
                </a:solidFill>
                <a:latin typeface="Inter" pitchFamily="34" charset="0"/>
                <a:ea typeface="Inter" pitchFamily="34" charset="-122"/>
                <a:cs typeface="Inter" pitchFamily="34" charset="-120"/>
              </a:rPr>
              <a:t>Faces funding restrictions and legal challenges.</a:t>
            </a:r>
            <a:endParaRPr lang="en-US" sz="1500" dirty="0"/>
          </a:p>
        </p:txBody>
      </p:sp>
      <p:sp>
        <p:nvSpPr>
          <p:cNvPr id="15" name="Shape 12"/>
          <p:cNvSpPr/>
          <p:nvPr/>
        </p:nvSpPr>
        <p:spPr>
          <a:xfrm>
            <a:off x="6446460" y="6332220"/>
            <a:ext cx="674727" cy="22860"/>
          </a:xfrm>
          <a:prstGeom prst="roundRect">
            <a:avLst>
              <a:gd name="adj" fmla="val 126512"/>
            </a:avLst>
          </a:prstGeom>
          <a:solidFill>
            <a:srgbClr val="5C5C61"/>
          </a:solidFill>
          <a:ln/>
        </p:spPr>
        <p:txBody>
          <a:bodyPr/>
          <a:lstStyle/>
          <a:p>
            <a:endParaRPr lang="en-US"/>
          </a:p>
        </p:txBody>
      </p:sp>
      <p:sp>
        <p:nvSpPr>
          <p:cNvPr id="16" name="Shape 13"/>
          <p:cNvSpPr/>
          <p:nvPr/>
        </p:nvSpPr>
        <p:spPr>
          <a:xfrm>
            <a:off x="7098328" y="6126837"/>
            <a:ext cx="433745" cy="433745"/>
          </a:xfrm>
          <a:prstGeom prst="roundRect">
            <a:avLst>
              <a:gd name="adj" fmla="val 6668"/>
            </a:avLst>
          </a:prstGeom>
          <a:solidFill>
            <a:srgbClr val="434348"/>
          </a:solidFill>
          <a:ln/>
        </p:spPr>
        <p:txBody>
          <a:bodyPr/>
          <a:lstStyle/>
          <a:p>
            <a:endParaRPr lang="en-US"/>
          </a:p>
        </p:txBody>
      </p:sp>
      <p:sp>
        <p:nvSpPr>
          <p:cNvPr id="17" name="Text 14"/>
          <p:cNvSpPr/>
          <p:nvPr/>
        </p:nvSpPr>
        <p:spPr>
          <a:xfrm>
            <a:off x="7231797" y="6199108"/>
            <a:ext cx="166807" cy="289203"/>
          </a:xfrm>
          <a:prstGeom prst="rect">
            <a:avLst/>
          </a:prstGeom>
          <a:noFill/>
          <a:ln/>
        </p:spPr>
        <p:txBody>
          <a:bodyPr wrap="none" lIns="0" tIns="0" rIns="0" bIns="0" rtlCol="0" anchor="t"/>
          <a:lstStyle/>
          <a:p>
            <a:pPr marL="0" indent="0" algn="ctr">
              <a:lnSpc>
                <a:spcPts val="2250"/>
              </a:lnSpc>
              <a:buNone/>
            </a:pPr>
            <a:r>
              <a:rPr lang="en-US" sz="2250" dirty="0">
                <a:solidFill>
                  <a:srgbClr val="C7CDD6"/>
                </a:solidFill>
                <a:latin typeface="Instrument Sans Medium" pitchFamily="34" charset="0"/>
                <a:ea typeface="Instrument Sans Medium" pitchFamily="34" charset="-122"/>
                <a:cs typeface="Instrument Sans Medium" pitchFamily="34" charset="-120"/>
              </a:rPr>
              <a:t>3</a:t>
            </a:r>
            <a:endParaRPr lang="en-US" sz="2250" dirty="0"/>
          </a:p>
        </p:txBody>
      </p:sp>
      <p:sp>
        <p:nvSpPr>
          <p:cNvPr id="18" name="Text 15"/>
          <p:cNvSpPr/>
          <p:nvPr/>
        </p:nvSpPr>
        <p:spPr>
          <a:xfrm>
            <a:off x="3844885" y="6102787"/>
            <a:ext cx="2409944" cy="301228"/>
          </a:xfrm>
          <a:prstGeom prst="rect">
            <a:avLst/>
          </a:prstGeom>
          <a:noFill/>
          <a:ln/>
        </p:spPr>
        <p:txBody>
          <a:bodyPr wrap="none" lIns="0" tIns="0" rIns="0" bIns="0" rtlCol="0" anchor="t"/>
          <a:lstStyle/>
          <a:p>
            <a:pPr marL="0" indent="0" algn="r">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Limited Publication</a:t>
            </a:r>
            <a:endParaRPr lang="en-US" sz="1850" dirty="0"/>
          </a:p>
        </p:txBody>
      </p:sp>
      <p:sp>
        <p:nvSpPr>
          <p:cNvPr id="19" name="Text 16"/>
          <p:cNvSpPr/>
          <p:nvPr/>
        </p:nvSpPr>
        <p:spPr>
          <a:xfrm>
            <a:off x="793790" y="6519624"/>
            <a:ext cx="5461040" cy="308372"/>
          </a:xfrm>
          <a:prstGeom prst="rect">
            <a:avLst/>
          </a:prstGeom>
          <a:noFill/>
          <a:ln/>
        </p:spPr>
        <p:txBody>
          <a:bodyPr wrap="none" lIns="0" tIns="0" rIns="0" bIns="0" rtlCol="0" anchor="t"/>
          <a:lstStyle/>
          <a:p>
            <a:pPr marL="0" indent="0" algn="r">
              <a:lnSpc>
                <a:spcPts val="2400"/>
              </a:lnSpc>
              <a:buNone/>
            </a:pPr>
            <a:r>
              <a:rPr lang="en-US" sz="1500" dirty="0">
                <a:solidFill>
                  <a:srgbClr val="C7CDD6"/>
                </a:solidFill>
                <a:latin typeface="Inter" pitchFamily="34" charset="0"/>
                <a:ea typeface="Inter" pitchFamily="34" charset="-122"/>
                <a:cs typeface="Inter" pitchFamily="34" charset="-120"/>
              </a:rPr>
              <a:t>Limited ability to publish due to Assange's imprisonment.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58585"/>
            <a:ext cx="11023163" cy="708779"/>
          </a:xfrm>
          <a:prstGeom prst="rect">
            <a:avLst/>
          </a:prstGeom>
          <a:noFill/>
          <a:ln/>
        </p:spPr>
        <p:txBody>
          <a:bodyPr wrap="none" lIns="0" tIns="0" rIns="0" bIns="0" rtlCol="0" anchor="t"/>
          <a:lstStyle/>
          <a:p>
            <a:pPr marL="0" indent="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The Debate: Public Good or Security Risk?</a:t>
            </a:r>
            <a:endParaRPr lang="en-US" sz="4450" dirty="0"/>
          </a:p>
        </p:txBody>
      </p:sp>
      <p:sp>
        <p:nvSpPr>
          <p:cNvPr id="3" name="Text 1"/>
          <p:cNvSpPr/>
          <p:nvPr/>
        </p:nvSpPr>
        <p:spPr>
          <a:xfrm>
            <a:off x="1857256" y="222099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Empowerment</a:t>
            </a:r>
            <a:endParaRPr lang="en-US" sz="2200" dirty="0"/>
          </a:p>
        </p:txBody>
      </p:sp>
      <p:sp>
        <p:nvSpPr>
          <p:cNvPr id="4" name="Text 2"/>
          <p:cNvSpPr/>
          <p:nvPr/>
        </p:nvSpPr>
        <p:spPr>
          <a:xfrm>
            <a:off x="793790" y="2711410"/>
            <a:ext cx="3898702" cy="1814513"/>
          </a:xfrm>
          <a:prstGeom prst="rect">
            <a:avLst/>
          </a:prstGeom>
          <a:noFill/>
          <a:ln/>
        </p:spPr>
        <p:txBody>
          <a:bodyPr wrap="square" lIns="0" tIns="0" rIns="0" bIns="0" rtlCol="0" anchor="t"/>
          <a:lstStyle/>
          <a:p>
            <a:pPr marL="0" indent="0" algn="r">
              <a:lnSpc>
                <a:spcPts val="2850"/>
              </a:lnSpc>
              <a:buNone/>
            </a:pPr>
            <a:r>
              <a:rPr lang="en-US" sz="1750" dirty="0">
                <a:solidFill>
                  <a:srgbClr val="C7CDD6"/>
                </a:solidFill>
                <a:latin typeface="Inter" pitchFamily="34" charset="0"/>
                <a:ea typeface="Inter" pitchFamily="34" charset="-122"/>
                <a:cs typeface="Inter" pitchFamily="34" charset="-120"/>
              </a:rPr>
              <a:t>WikiLeaks empowers citizens by providing access to information that would otherwise be hidden, promoting transparency and informed public discourse.</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341269" y="3161943"/>
            <a:ext cx="110252" cy="453509"/>
          </a:xfrm>
          <a:prstGeom prst="rect">
            <a:avLst/>
          </a:prstGeom>
          <a:noFill/>
          <a:ln/>
        </p:spPr>
        <p:txBody>
          <a:bodyPr wrap="none" lIns="0" tIns="0" rIns="0" bIns="0" rtlCol="0" anchor="t"/>
          <a:lstStyle/>
          <a:p>
            <a:pPr marL="0" indent="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1</a:t>
            </a:r>
            <a:endParaRPr lang="en-US" sz="2200" dirty="0"/>
          </a:p>
        </p:txBody>
      </p:sp>
      <p:sp>
        <p:nvSpPr>
          <p:cNvPr id="7" name="Text 4"/>
          <p:cNvSpPr/>
          <p:nvPr/>
        </p:nvSpPr>
        <p:spPr>
          <a:xfrm>
            <a:off x="9937790" y="22209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Accountability</a:t>
            </a:r>
            <a:endParaRPr lang="en-US" sz="2200" dirty="0"/>
          </a:p>
        </p:txBody>
      </p:sp>
      <p:sp>
        <p:nvSpPr>
          <p:cNvPr id="8" name="Text 5"/>
          <p:cNvSpPr/>
          <p:nvPr/>
        </p:nvSpPr>
        <p:spPr>
          <a:xfrm>
            <a:off x="9937790" y="2711410"/>
            <a:ext cx="3898821"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It serves as a tool for holding governments and organizations accountable for their actions, potentially deterring misconduct and corruption.</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544163" y="3550444"/>
            <a:ext cx="156210" cy="453509"/>
          </a:xfrm>
          <a:prstGeom prst="rect">
            <a:avLst/>
          </a:prstGeom>
          <a:noFill/>
          <a:ln/>
        </p:spPr>
        <p:txBody>
          <a:bodyPr wrap="none" lIns="0" tIns="0" rIns="0" bIns="0" rtlCol="0" anchor="t"/>
          <a:lstStyle/>
          <a:p>
            <a:pPr marL="0" indent="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2</a:t>
            </a:r>
            <a:endParaRPr lang="en-US" sz="2200" dirty="0"/>
          </a:p>
        </p:txBody>
      </p:sp>
      <p:sp>
        <p:nvSpPr>
          <p:cNvPr id="11" name="Text 7"/>
          <p:cNvSpPr/>
          <p:nvPr/>
        </p:nvSpPr>
        <p:spPr>
          <a:xfrm>
            <a:off x="9937790" y="48660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Security Risk</a:t>
            </a:r>
            <a:endParaRPr lang="en-US" sz="2200" dirty="0"/>
          </a:p>
        </p:txBody>
      </p:sp>
      <p:sp>
        <p:nvSpPr>
          <p:cNvPr id="12" name="Text 8"/>
          <p:cNvSpPr/>
          <p:nvPr/>
        </p:nvSpPr>
        <p:spPr>
          <a:xfrm>
            <a:off x="9937790" y="5356503"/>
            <a:ext cx="3898821"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Critics argue that WikiLeaks poses a significant security risk by publishing classified information, which could endanger individuals and compromise national security.</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151971" y="5776317"/>
            <a:ext cx="163592" cy="453509"/>
          </a:xfrm>
          <a:prstGeom prst="rect">
            <a:avLst/>
          </a:prstGeom>
          <a:noFill/>
          <a:ln/>
        </p:spPr>
        <p:txBody>
          <a:bodyPr wrap="none" lIns="0" tIns="0" rIns="0" bIns="0" rtlCol="0" anchor="t"/>
          <a:lstStyle/>
          <a:p>
            <a:pPr marL="0" indent="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3</a:t>
            </a:r>
            <a:endParaRPr lang="en-US" sz="2200" dirty="0"/>
          </a:p>
        </p:txBody>
      </p:sp>
      <p:sp>
        <p:nvSpPr>
          <p:cNvPr id="15" name="Text 10"/>
          <p:cNvSpPr/>
          <p:nvPr/>
        </p:nvSpPr>
        <p:spPr>
          <a:xfrm>
            <a:off x="1857256" y="4866084"/>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Propaganda</a:t>
            </a:r>
            <a:endParaRPr lang="en-US" sz="2200" dirty="0"/>
          </a:p>
        </p:txBody>
      </p:sp>
      <p:sp>
        <p:nvSpPr>
          <p:cNvPr id="16" name="Text 11"/>
          <p:cNvSpPr/>
          <p:nvPr/>
        </p:nvSpPr>
        <p:spPr>
          <a:xfrm>
            <a:off x="793790" y="5356503"/>
            <a:ext cx="3898702" cy="1814513"/>
          </a:xfrm>
          <a:prstGeom prst="rect">
            <a:avLst/>
          </a:prstGeom>
          <a:noFill/>
          <a:ln/>
        </p:spPr>
        <p:txBody>
          <a:bodyPr wrap="square" lIns="0" tIns="0" rIns="0" bIns="0" rtlCol="0" anchor="t"/>
          <a:lstStyle/>
          <a:p>
            <a:pPr marL="0" indent="0" algn="r">
              <a:lnSpc>
                <a:spcPts val="2850"/>
              </a:lnSpc>
              <a:buNone/>
            </a:pPr>
            <a:r>
              <a:rPr lang="en-US" sz="1750" dirty="0">
                <a:solidFill>
                  <a:srgbClr val="C7CDD6"/>
                </a:solidFill>
                <a:latin typeface="Inter" pitchFamily="34" charset="0"/>
                <a:ea typeface="Inter" pitchFamily="34" charset="-122"/>
                <a:cs typeface="Inter" pitchFamily="34" charset="-120"/>
              </a:rPr>
              <a:t>Some view WikiLeaks as a platform for spreading propaganda and disinformation, potentially manipulating public opinion and undermining democratic processes.</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921812" y="5387816"/>
            <a:ext cx="172045" cy="453509"/>
          </a:xfrm>
          <a:prstGeom prst="rect">
            <a:avLst/>
          </a:prstGeom>
          <a:noFill/>
          <a:ln/>
        </p:spPr>
        <p:txBody>
          <a:bodyPr wrap="none" lIns="0" tIns="0" rIns="0" bIns="0" rtlCol="0" anchor="t"/>
          <a:lstStyle/>
          <a:p>
            <a:pPr marL="0" indent="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4</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4289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Key Takeaways</a:t>
            </a:r>
            <a:endParaRPr lang="en-US" sz="4450" dirty="0"/>
          </a:p>
        </p:txBody>
      </p:sp>
      <p:sp>
        <p:nvSpPr>
          <p:cNvPr id="4" name="Text 1"/>
          <p:cNvSpPr/>
          <p:nvPr/>
        </p:nvSpPr>
        <p:spPr>
          <a:xfrm>
            <a:off x="6620351" y="2546985"/>
            <a:ext cx="7216259" cy="725805"/>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WikiLeaks' complex impact, ongoing societal debate, and continued legal challenges are key aspects to consider.</a:t>
            </a:r>
            <a:endParaRPr lang="en-US" sz="1750" dirty="0"/>
          </a:p>
        </p:txBody>
      </p:sp>
      <p:sp>
        <p:nvSpPr>
          <p:cNvPr id="5" name="Shape 2"/>
          <p:cNvSpPr/>
          <p:nvPr/>
        </p:nvSpPr>
        <p:spPr>
          <a:xfrm>
            <a:off x="6280190" y="2291834"/>
            <a:ext cx="30480" cy="1236107"/>
          </a:xfrm>
          <a:prstGeom prst="rect">
            <a:avLst/>
          </a:prstGeom>
          <a:solidFill>
            <a:srgbClr val="FDC4C4"/>
          </a:solidFill>
          <a:ln/>
        </p:spPr>
        <p:txBody>
          <a:bodyPr/>
          <a:lstStyle/>
          <a:p>
            <a:endParaRPr lang="en-US"/>
          </a:p>
        </p:txBody>
      </p:sp>
      <p:sp>
        <p:nvSpPr>
          <p:cNvPr id="6" name="Shape 3"/>
          <p:cNvSpPr/>
          <p:nvPr/>
        </p:nvSpPr>
        <p:spPr>
          <a:xfrm>
            <a:off x="6280190" y="3783092"/>
            <a:ext cx="3664863" cy="1669852"/>
          </a:xfrm>
          <a:prstGeom prst="roundRect">
            <a:avLst>
              <a:gd name="adj" fmla="val 2038"/>
            </a:avLst>
          </a:prstGeom>
          <a:solidFill>
            <a:srgbClr val="434348"/>
          </a:solidFill>
          <a:ln/>
        </p:spPr>
        <p:txBody>
          <a:bodyPr/>
          <a:lstStyle/>
          <a:p>
            <a:endParaRPr lang="en-US"/>
          </a:p>
        </p:txBody>
      </p:sp>
      <p:sp>
        <p:nvSpPr>
          <p:cNvPr id="7" name="Text 4"/>
          <p:cNvSpPr/>
          <p:nvPr/>
        </p:nvSpPr>
        <p:spPr>
          <a:xfrm>
            <a:off x="6507004" y="400990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Complex Impact</a:t>
            </a:r>
            <a:endParaRPr lang="en-US" sz="2200" dirty="0"/>
          </a:p>
        </p:txBody>
      </p:sp>
      <p:sp>
        <p:nvSpPr>
          <p:cNvPr id="8" name="Text 5"/>
          <p:cNvSpPr/>
          <p:nvPr/>
        </p:nvSpPr>
        <p:spPr>
          <a:xfrm>
            <a:off x="6507004" y="4500324"/>
            <a:ext cx="3211235" cy="725805"/>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WikiLeaks has a complex global impact.</a:t>
            </a:r>
            <a:endParaRPr lang="en-US" sz="1750" dirty="0"/>
          </a:p>
        </p:txBody>
      </p:sp>
      <p:sp>
        <p:nvSpPr>
          <p:cNvPr id="9" name="Shape 6"/>
          <p:cNvSpPr/>
          <p:nvPr/>
        </p:nvSpPr>
        <p:spPr>
          <a:xfrm>
            <a:off x="10171867" y="3783092"/>
            <a:ext cx="3664863" cy="1669852"/>
          </a:xfrm>
          <a:prstGeom prst="roundRect">
            <a:avLst>
              <a:gd name="adj" fmla="val 2038"/>
            </a:avLst>
          </a:prstGeom>
          <a:solidFill>
            <a:srgbClr val="434348"/>
          </a:solidFill>
          <a:ln/>
        </p:spPr>
        <p:txBody>
          <a:bodyPr/>
          <a:lstStyle/>
          <a:p>
            <a:endParaRPr lang="en-US"/>
          </a:p>
        </p:txBody>
      </p:sp>
      <p:sp>
        <p:nvSpPr>
          <p:cNvPr id="10" name="Text 7"/>
          <p:cNvSpPr/>
          <p:nvPr/>
        </p:nvSpPr>
        <p:spPr>
          <a:xfrm>
            <a:off x="10398681" y="400990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Ongoing Debate</a:t>
            </a:r>
            <a:endParaRPr lang="en-US" sz="2200" dirty="0"/>
          </a:p>
        </p:txBody>
      </p:sp>
      <p:sp>
        <p:nvSpPr>
          <p:cNvPr id="11" name="Text 8"/>
          <p:cNvSpPr/>
          <p:nvPr/>
        </p:nvSpPr>
        <p:spPr>
          <a:xfrm>
            <a:off x="10398681" y="4500324"/>
            <a:ext cx="3211235" cy="725805"/>
          </a:xfrm>
          <a:prstGeom prst="rect">
            <a:avLst/>
          </a:prstGeom>
          <a:noFill/>
          <a:ln/>
        </p:spPr>
        <p:txBody>
          <a:bodyPr wrap="squar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Debate continues over its role in society.</a:t>
            </a:r>
            <a:endParaRPr lang="en-US" sz="1750" dirty="0"/>
          </a:p>
        </p:txBody>
      </p:sp>
      <p:sp>
        <p:nvSpPr>
          <p:cNvPr id="12" name="Shape 9"/>
          <p:cNvSpPr/>
          <p:nvPr/>
        </p:nvSpPr>
        <p:spPr>
          <a:xfrm>
            <a:off x="6295430" y="5607427"/>
            <a:ext cx="7556421" cy="1306949"/>
          </a:xfrm>
          <a:prstGeom prst="roundRect">
            <a:avLst>
              <a:gd name="adj" fmla="val 2603"/>
            </a:avLst>
          </a:prstGeom>
          <a:solidFill>
            <a:srgbClr val="434348"/>
          </a:solidFill>
          <a:ln/>
        </p:spPr>
        <p:txBody>
          <a:bodyPr/>
          <a:lstStyle/>
          <a:p>
            <a:endParaRPr lang="en-US"/>
          </a:p>
        </p:txBody>
      </p:sp>
      <p:sp>
        <p:nvSpPr>
          <p:cNvPr id="13" name="Text 10"/>
          <p:cNvSpPr/>
          <p:nvPr/>
        </p:nvSpPr>
        <p:spPr>
          <a:xfrm>
            <a:off x="6507004" y="590657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Legal Challenges</a:t>
            </a:r>
            <a:endParaRPr lang="en-US" sz="2200" dirty="0"/>
          </a:p>
        </p:txBody>
      </p:sp>
      <p:sp>
        <p:nvSpPr>
          <p:cNvPr id="14" name="Text 11"/>
          <p:cNvSpPr/>
          <p:nvPr/>
        </p:nvSpPr>
        <p:spPr>
          <a:xfrm>
            <a:off x="6507004" y="6396990"/>
            <a:ext cx="7102793" cy="362903"/>
          </a:xfrm>
          <a:prstGeom prst="rect">
            <a:avLst/>
          </a:prstGeom>
          <a:noFill/>
          <a:ln/>
        </p:spPr>
        <p:txBody>
          <a:bodyPr wrap="none" lIns="0" tIns="0" rIns="0" bIns="0" rtlCol="0" anchor="t"/>
          <a:lstStyle/>
          <a:p>
            <a:pPr marL="0" indent="0">
              <a:lnSpc>
                <a:spcPts val="2850"/>
              </a:lnSpc>
              <a:buNone/>
            </a:pPr>
            <a:r>
              <a:rPr lang="en-US" sz="1750" dirty="0">
                <a:solidFill>
                  <a:srgbClr val="C7CDD6"/>
                </a:solidFill>
                <a:latin typeface="Inter" pitchFamily="34" charset="0"/>
                <a:ea typeface="Inter" pitchFamily="34" charset="-122"/>
                <a:cs typeface="Inter" pitchFamily="34" charset="-120"/>
              </a:rPr>
              <a:t>It continues to face legal challenges.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677</Words>
  <Application>Microsoft Office PowerPoint</Application>
  <PresentationFormat>Custom</PresentationFormat>
  <Paragraphs>87</Paragraphs>
  <Slides>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Inter</vt:lpstr>
      <vt:lpstr>Arial</vt:lpstr>
      <vt:lpstr>Inter Bold</vt:lpstr>
      <vt:lpstr>var(--font-fk-grotesk-neue)</vt:lpstr>
      <vt:lpstr>Instrument Sans Medium</vt:lpstr>
      <vt:lpstr>fkGroteskNeue</vt:lpstr>
      <vt:lpstr>var(--font-berkeley-mono)</vt:lpstr>
      <vt:lpstr>var(--font-fk-grotesk)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Timothy Williams</cp:lastModifiedBy>
  <cp:revision>1</cp:revision>
  <dcterms:created xsi:type="dcterms:W3CDTF">2025-02-13T20:36:39Z</dcterms:created>
  <dcterms:modified xsi:type="dcterms:W3CDTF">2025-02-13T21:04:58Z</dcterms:modified>
</cp:coreProperties>
</file>