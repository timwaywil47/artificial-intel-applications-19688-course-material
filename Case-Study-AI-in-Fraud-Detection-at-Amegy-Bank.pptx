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4630400" cy="8229600"/>
  <p:notesSz cx="8229600" cy="14630400"/>
  <p:embeddedFontLst>
    <p:embeddedFont>
      <p:font typeface="Merriweather" panose="00000500000000000000" pitchFamily="2" charset="0"/>
      <p:regular r:id="rId14"/>
      <p:bold r:id="rId15"/>
    </p:embeddedFont>
    <p:embeddedFont>
      <p:font typeface="Merriweather Bold" panose="00000800000000000000" pitchFamily="2" charset="0"/>
      <p:bold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5" d="100"/>
          <a:sy n="65" d="100"/>
        </p:scale>
        <p:origin x="1017" y="57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15180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9.xml"/><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https://www.youtube.com/embed/fZJLfruV-1w?start=21&amp;feature=oembed" TargetMode="External"/><Relationship Id="rId1" Type="http://schemas.openxmlformats.org/officeDocument/2006/relationships/video" Target="https://www.youtube.com/embed/tTAgnmiA3nk?feature=oembed" TargetMode="External"/><Relationship Id="rId6" Type="http://schemas.openxmlformats.org/officeDocument/2006/relationships/image" Target="../media/image22.jpeg"/><Relationship Id="rId5" Type="http://schemas.openxmlformats.org/officeDocument/2006/relationships/image" Target="../media/image21.jpeg"/><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50198" y="1431012"/>
            <a:ext cx="7416403" cy="2313861"/>
          </a:xfrm>
          <a:prstGeom prst="rect">
            <a:avLst/>
          </a:prstGeom>
          <a:noFill/>
          <a:ln/>
        </p:spPr>
        <p:txBody>
          <a:bodyPr wrap="square" lIns="0" tIns="0" rIns="0" bIns="0" rtlCol="0" anchor="t"/>
          <a:lstStyle/>
          <a:p>
            <a:pPr marL="0" indent="0">
              <a:lnSpc>
                <a:spcPts val="6050"/>
              </a:lnSpc>
              <a:buNone/>
            </a:pPr>
            <a:r>
              <a:rPr lang="en-US" sz="4850" dirty="0">
                <a:solidFill>
                  <a:srgbClr val="F5F0F0"/>
                </a:solidFill>
                <a:latin typeface="Merriweather" pitchFamily="34" charset="0"/>
                <a:ea typeface="Merriweather" pitchFamily="34" charset="-122"/>
                <a:cs typeface="Merriweather" pitchFamily="34" charset="-120"/>
              </a:rPr>
              <a:t>Case Study: AI in Fraud Detection at Amegy Bank</a:t>
            </a:r>
            <a:endParaRPr lang="en-US" sz="4850" dirty="0"/>
          </a:p>
        </p:txBody>
      </p:sp>
      <p:sp>
        <p:nvSpPr>
          <p:cNvPr id="4" name="Text 1"/>
          <p:cNvSpPr/>
          <p:nvPr/>
        </p:nvSpPr>
        <p:spPr>
          <a:xfrm>
            <a:off x="6350198" y="4115038"/>
            <a:ext cx="7416403" cy="1974056"/>
          </a:xfrm>
          <a:prstGeom prst="rect">
            <a:avLst/>
          </a:prstGeom>
          <a:noFill/>
          <a:ln/>
        </p:spPr>
        <p:txBody>
          <a:bodyPr wrap="square" lIns="0" tIns="0" rIns="0" bIns="0" rtlCol="0" anchor="t"/>
          <a:lstStyle/>
          <a:p>
            <a:pPr marL="0" indent="0">
              <a:lnSpc>
                <a:spcPts val="3100"/>
              </a:lnSpc>
              <a:buNone/>
            </a:pPr>
            <a:r>
              <a:rPr lang="en-US" sz="1900" dirty="0">
                <a:solidFill>
                  <a:srgbClr val="E2E6E9"/>
                </a:solidFill>
                <a:latin typeface="Merriweather" pitchFamily="34" charset="0"/>
                <a:ea typeface="Merriweather" pitchFamily="34" charset="-122"/>
                <a:cs typeface="Merriweather" pitchFamily="34" charset="-120"/>
              </a:rPr>
              <a:t>This presentation outlines the transformative use of AI at Amegy Bank. It covers technology, benefits, challenges, and recommendations. This case study illustrates how financial institutions can protect assets. It also explains how to reduce losses using AI.</a:t>
            </a:r>
            <a:endParaRPr lang="en-US" sz="1900" dirty="0"/>
          </a:p>
        </p:txBody>
      </p:sp>
      <p:sp>
        <p:nvSpPr>
          <p:cNvPr id="5" name="Shape 2"/>
          <p:cNvSpPr/>
          <p:nvPr/>
        </p:nvSpPr>
        <p:spPr>
          <a:xfrm>
            <a:off x="6350198" y="6385203"/>
            <a:ext cx="394930" cy="394930"/>
          </a:xfrm>
          <a:prstGeom prst="roundRect">
            <a:avLst>
              <a:gd name="adj" fmla="val 23151155"/>
            </a:avLst>
          </a:prstGeom>
          <a:noFill/>
          <a:ln w="7620">
            <a:solidFill>
              <a:srgbClr val="FFFFFF"/>
            </a:solidFill>
            <a:prstDash val="solid"/>
          </a:ln>
        </p:spPr>
        <p:txBody>
          <a:bodyPr/>
          <a:lstStyle/>
          <a:p>
            <a:endParaRPr lang="en-US"/>
          </a:p>
        </p:txBody>
      </p:sp>
      <p:pic>
        <p:nvPicPr>
          <p:cNvPr id="6" name="Image 1" descr="preencoded.png"/>
          <p:cNvPicPr>
            <a:picLocks noChangeAspect="1"/>
          </p:cNvPicPr>
          <p:nvPr/>
        </p:nvPicPr>
        <p:blipFill>
          <a:blip r:embed="rId4"/>
          <a:stretch>
            <a:fillRect/>
          </a:stretch>
        </p:blipFill>
        <p:spPr>
          <a:xfrm>
            <a:off x="6357818" y="6392823"/>
            <a:ext cx="379690" cy="379690"/>
          </a:xfrm>
          <a:prstGeom prst="rect">
            <a:avLst/>
          </a:prstGeom>
        </p:spPr>
      </p:pic>
      <p:sp>
        <p:nvSpPr>
          <p:cNvPr id="7" name="Text 3"/>
          <p:cNvSpPr/>
          <p:nvPr/>
        </p:nvSpPr>
        <p:spPr>
          <a:xfrm>
            <a:off x="6868478" y="6366748"/>
            <a:ext cx="3241119" cy="431840"/>
          </a:xfrm>
          <a:prstGeom prst="rect">
            <a:avLst/>
          </a:prstGeom>
          <a:noFill/>
          <a:ln/>
        </p:spPr>
        <p:txBody>
          <a:bodyPr wrap="none" lIns="0" tIns="0" rIns="0" bIns="0" rtlCol="0" anchor="t"/>
          <a:lstStyle/>
          <a:p>
            <a:pPr marL="0" indent="0" algn="l">
              <a:lnSpc>
                <a:spcPts val="3400"/>
              </a:lnSpc>
              <a:buNone/>
            </a:pPr>
            <a:r>
              <a:rPr lang="en-US" sz="2400" b="1" dirty="0">
                <a:solidFill>
                  <a:srgbClr val="E2E6E9"/>
                </a:solidFill>
                <a:latin typeface="Merriweather Bold" pitchFamily="34" charset="0"/>
                <a:ea typeface="Merriweather Bold" pitchFamily="34" charset="-122"/>
                <a:cs typeface="Merriweather Bold" pitchFamily="34" charset="-120"/>
              </a:rPr>
              <a:t>by Timothy Williams</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63798" y="2334935"/>
            <a:ext cx="11277838" cy="771287"/>
          </a:xfrm>
          <a:prstGeom prst="rect">
            <a:avLst/>
          </a:prstGeom>
          <a:noFill/>
          <a:ln/>
        </p:spPr>
        <p:txBody>
          <a:bodyPr wrap="none" lIns="0" tIns="0" rIns="0" bIns="0" rtlCol="0" anchor="t"/>
          <a:lstStyle/>
          <a:p>
            <a:pPr marL="0" indent="0">
              <a:lnSpc>
                <a:spcPts val="6050"/>
              </a:lnSpc>
              <a:buNone/>
            </a:pPr>
            <a:r>
              <a:rPr lang="en-US" sz="4850" dirty="0">
                <a:solidFill>
                  <a:srgbClr val="F5F0F0"/>
                </a:solidFill>
                <a:latin typeface="Merriweather" pitchFamily="34" charset="0"/>
                <a:ea typeface="Merriweather" pitchFamily="34" charset="-122"/>
                <a:cs typeface="Merriweather" pitchFamily="34" charset="-120"/>
              </a:rPr>
              <a:t>Introduction to AI in Fraud Detection</a:t>
            </a:r>
            <a:endParaRPr lang="en-US" sz="4850" dirty="0"/>
          </a:p>
        </p:txBody>
      </p:sp>
      <p:sp>
        <p:nvSpPr>
          <p:cNvPr id="3" name="Text 1"/>
          <p:cNvSpPr/>
          <p:nvPr/>
        </p:nvSpPr>
        <p:spPr>
          <a:xfrm>
            <a:off x="863798" y="3698438"/>
            <a:ext cx="3898940" cy="1579245"/>
          </a:xfrm>
          <a:prstGeom prst="rect">
            <a:avLst/>
          </a:prstGeom>
          <a:noFill/>
          <a:ln/>
        </p:spPr>
        <p:txBody>
          <a:bodyPr wrap="square" lIns="0" tIns="0" rIns="0" bIns="0" rtlCol="0" anchor="t"/>
          <a:lstStyle/>
          <a:p>
            <a:pPr marL="0" indent="0">
              <a:lnSpc>
                <a:spcPts val="3100"/>
              </a:lnSpc>
              <a:buNone/>
            </a:pPr>
            <a:r>
              <a:rPr lang="en-US" sz="1900" dirty="0">
                <a:solidFill>
                  <a:srgbClr val="E2E6E9"/>
                </a:solidFill>
                <a:latin typeface="Merriweather" pitchFamily="34" charset="0"/>
                <a:ea typeface="Merriweather" pitchFamily="34" charset="-122"/>
                <a:cs typeface="Merriweather" pitchFamily="34" charset="-120"/>
              </a:rPr>
              <a:t>Amergy Bank uses AI to fight fraud. This is critical with rising digital transactions and complex tactics.</a:t>
            </a:r>
            <a:endParaRPr lang="en-US" sz="1900" dirty="0"/>
          </a:p>
        </p:txBody>
      </p:sp>
      <p:sp>
        <p:nvSpPr>
          <p:cNvPr id="4" name="Text 2"/>
          <p:cNvSpPr/>
          <p:nvPr/>
        </p:nvSpPr>
        <p:spPr>
          <a:xfrm>
            <a:off x="5372576" y="3698438"/>
            <a:ext cx="3898940" cy="1579245"/>
          </a:xfrm>
          <a:prstGeom prst="rect">
            <a:avLst/>
          </a:prstGeom>
          <a:noFill/>
          <a:ln/>
        </p:spPr>
        <p:txBody>
          <a:bodyPr wrap="square" lIns="0" tIns="0" rIns="0" bIns="0" rtlCol="0" anchor="t"/>
          <a:lstStyle/>
          <a:p>
            <a:pPr marL="0" indent="0">
              <a:lnSpc>
                <a:spcPts val="3100"/>
              </a:lnSpc>
              <a:buNone/>
            </a:pPr>
            <a:r>
              <a:rPr lang="en-US" sz="1900" dirty="0">
                <a:solidFill>
                  <a:srgbClr val="E2E6E9"/>
                </a:solidFill>
                <a:latin typeface="Merriweather" pitchFamily="34" charset="0"/>
                <a:ea typeface="Merriweather" pitchFamily="34" charset="-122"/>
                <a:cs typeface="Merriweather" pitchFamily="34" charset="-120"/>
              </a:rPr>
              <a:t>AI offers a strong solution. It detects and prevents fraudulent activities effectively in real-time.</a:t>
            </a:r>
            <a:endParaRPr lang="en-US" sz="1900" dirty="0"/>
          </a:p>
        </p:txBody>
      </p:sp>
      <p:sp>
        <p:nvSpPr>
          <p:cNvPr id="5" name="Text 3"/>
          <p:cNvSpPr/>
          <p:nvPr/>
        </p:nvSpPr>
        <p:spPr>
          <a:xfrm>
            <a:off x="9881354" y="3698438"/>
            <a:ext cx="3898940" cy="1974056"/>
          </a:xfrm>
          <a:prstGeom prst="rect">
            <a:avLst/>
          </a:prstGeom>
          <a:noFill/>
          <a:ln/>
        </p:spPr>
        <p:txBody>
          <a:bodyPr wrap="square" lIns="0" tIns="0" rIns="0" bIns="0" rtlCol="0" anchor="t"/>
          <a:lstStyle/>
          <a:p>
            <a:pPr marL="0" indent="0">
              <a:lnSpc>
                <a:spcPts val="3100"/>
              </a:lnSpc>
              <a:buNone/>
            </a:pPr>
            <a:r>
              <a:rPr lang="en-US" sz="1900" dirty="0">
                <a:solidFill>
                  <a:srgbClr val="E2E6E9"/>
                </a:solidFill>
                <a:latin typeface="Merriweather" pitchFamily="34" charset="0"/>
                <a:ea typeface="Merriweather" pitchFamily="34" charset="-122"/>
                <a:cs typeface="Merriweather" pitchFamily="34" charset="-120"/>
              </a:rPr>
              <a:t>Fraud detection is crucial. It protects assets, maintains trust, and cuts losses. AI analyzes vast data and predicts fraud.</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91382" y="989886"/>
            <a:ext cx="6924794" cy="718780"/>
          </a:xfrm>
          <a:prstGeom prst="rect">
            <a:avLst/>
          </a:prstGeom>
          <a:noFill/>
          <a:ln/>
        </p:spPr>
        <p:txBody>
          <a:bodyPr wrap="none" lIns="0" tIns="0" rIns="0" bIns="0" rtlCol="0" anchor="t"/>
          <a:lstStyle/>
          <a:p>
            <a:pPr marL="0" indent="0">
              <a:lnSpc>
                <a:spcPts val="5650"/>
              </a:lnSpc>
              <a:buNone/>
            </a:pPr>
            <a:r>
              <a:rPr lang="en-US" sz="4500" dirty="0">
                <a:solidFill>
                  <a:srgbClr val="F5F0F0"/>
                </a:solidFill>
                <a:latin typeface="Merriweather" pitchFamily="34" charset="0"/>
                <a:ea typeface="Merriweather" pitchFamily="34" charset="-122"/>
                <a:cs typeface="Merriweather" pitchFamily="34" charset="-120"/>
              </a:rPr>
              <a:t>AI Technologies Utilized</a:t>
            </a:r>
            <a:endParaRPr lang="en-US" sz="4500" dirty="0"/>
          </a:p>
        </p:txBody>
      </p:sp>
      <p:sp>
        <p:nvSpPr>
          <p:cNvPr id="4" name="Shape 1"/>
          <p:cNvSpPr/>
          <p:nvPr/>
        </p:nvSpPr>
        <p:spPr>
          <a:xfrm>
            <a:off x="6291382" y="2312313"/>
            <a:ext cx="517446" cy="517446"/>
          </a:xfrm>
          <a:prstGeom prst="roundRect">
            <a:avLst>
              <a:gd name="adj" fmla="val 18669"/>
            </a:avLst>
          </a:prstGeom>
          <a:solidFill>
            <a:srgbClr val="003180"/>
          </a:solidFill>
          <a:ln w="7620">
            <a:solidFill>
              <a:srgbClr val="194A99"/>
            </a:solidFill>
            <a:prstDash val="solid"/>
          </a:ln>
        </p:spPr>
        <p:txBody>
          <a:bodyPr/>
          <a:lstStyle/>
          <a:p>
            <a:endParaRPr lang="en-US"/>
          </a:p>
        </p:txBody>
      </p:sp>
      <p:sp>
        <p:nvSpPr>
          <p:cNvPr id="5" name="Text 2"/>
          <p:cNvSpPr/>
          <p:nvPr/>
        </p:nvSpPr>
        <p:spPr>
          <a:xfrm>
            <a:off x="6474143" y="2398514"/>
            <a:ext cx="151805" cy="345043"/>
          </a:xfrm>
          <a:prstGeom prst="rect">
            <a:avLst/>
          </a:prstGeom>
          <a:noFill/>
          <a:ln/>
        </p:spPr>
        <p:txBody>
          <a:bodyPr wrap="none" lIns="0" tIns="0" rIns="0" bIns="0" rtlCol="0" anchor="t"/>
          <a:lstStyle/>
          <a:p>
            <a:pPr marL="0" indent="0" algn="ctr">
              <a:lnSpc>
                <a:spcPts val="2700"/>
              </a:lnSpc>
              <a:buNone/>
            </a:pPr>
            <a:r>
              <a:rPr lang="en-US" sz="2700" dirty="0">
                <a:solidFill>
                  <a:srgbClr val="E2E6E9"/>
                </a:solidFill>
                <a:latin typeface="Merriweather" pitchFamily="34" charset="0"/>
                <a:ea typeface="Merriweather" pitchFamily="34" charset="-122"/>
                <a:cs typeface="Merriweather" pitchFamily="34" charset="-120"/>
              </a:rPr>
              <a:t>1</a:t>
            </a:r>
            <a:endParaRPr lang="en-US" sz="2700" dirty="0"/>
          </a:p>
        </p:txBody>
      </p:sp>
      <p:sp>
        <p:nvSpPr>
          <p:cNvPr id="6" name="Text 3"/>
          <p:cNvSpPr/>
          <p:nvPr/>
        </p:nvSpPr>
        <p:spPr>
          <a:xfrm>
            <a:off x="7038737" y="2312313"/>
            <a:ext cx="3359110" cy="359331"/>
          </a:xfrm>
          <a:prstGeom prst="rect">
            <a:avLst/>
          </a:prstGeom>
          <a:noFill/>
          <a:ln/>
        </p:spPr>
        <p:txBody>
          <a:bodyPr wrap="none" lIns="0" tIns="0" rIns="0" bIns="0" rtlCol="0" anchor="t"/>
          <a:lstStyle/>
          <a:p>
            <a:pPr marL="0" indent="0">
              <a:lnSpc>
                <a:spcPts val="2800"/>
              </a:lnSpc>
              <a:buNone/>
            </a:pPr>
            <a:r>
              <a:rPr lang="en-US" sz="2250" dirty="0">
                <a:solidFill>
                  <a:srgbClr val="E2E6E9"/>
                </a:solidFill>
                <a:latin typeface="Merriweather" pitchFamily="34" charset="0"/>
                <a:ea typeface="Merriweather" pitchFamily="34" charset="-122"/>
                <a:cs typeface="Merriweather" pitchFamily="34" charset="-120"/>
              </a:rPr>
              <a:t>Machine Learning (ML)</a:t>
            </a:r>
            <a:endParaRPr lang="en-US" sz="2250" dirty="0"/>
          </a:p>
        </p:txBody>
      </p:sp>
      <p:sp>
        <p:nvSpPr>
          <p:cNvPr id="7" name="Text 4"/>
          <p:cNvSpPr/>
          <p:nvPr/>
        </p:nvSpPr>
        <p:spPr>
          <a:xfrm>
            <a:off x="7038737" y="2809637"/>
            <a:ext cx="6786682" cy="368022"/>
          </a:xfrm>
          <a:prstGeom prst="rect">
            <a:avLst/>
          </a:prstGeom>
          <a:noFill/>
          <a:ln/>
        </p:spPr>
        <p:txBody>
          <a:bodyPr wrap="none" lIns="0" tIns="0" rIns="0" bIns="0" rtlCol="0" anchor="t"/>
          <a:lstStyle/>
          <a:p>
            <a:pPr marL="0" indent="0">
              <a:lnSpc>
                <a:spcPts val="2850"/>
              </a:lnSpc>
              <a:buNone/>
            </a:pPr>
            <a:r>
              <a:rPr lang="en-US" sz="1800" dirty="0">
                <a:solidFill>
                  <a:srgbClr val="E2E6E9"/>
                </a:solidFill>
                <a:latin typeface="Merriweather" pitchFamily="34" charset="0"/>
                <a:ea typeface="Merriweather" pitchFamily="34" charset="-122"/>
                <a:cs typeface="Merriweather" pitchFamily="34" charset="-120"/>
              </a:rPr>
              <a:t>Analyzes data for fraud patterns.</a:t>
            </a:r>
            <a:endParaRPr lang="en-US" sz="1800" dirty="0"/>
          </a:p>
        </p:txBody>
      </p:sp>
      <p:sp>
        <p:nvSpPr>
          <p:cNvPr id="8" name="Shape 5"/>
          <p:cNvSpPr/>
          <p:nvPr/>
        </p:nvSpPr>
        <p:spPr>
          <a:xfrm>
            <a:off x="6291382" y="3666292"/>
            <a:ext cx="517446" cy="517446"/>
          </a:xfrm>
          <a:prstGeom prst="roundRect">
            <a:avLst>
              <a:gd name="adj" fmla="val 18669"/>
            </a:avLst>
          </a:prstGeom>
          <a:solidFill>
            <a:srgbClr val="003180"/>
          </a:solidFill>
          <a:ln w="7620">
            <a:solidFill>
              <a:srgbClr val="194A99"/>
            </a:solidFill>
            <a:prstDash val="solid"/>
          </a:ln>
        </p:spPr>
        <p:txBody>
          <a:bodyPr/>
          <a:lstStyle/>
          <a:p>
            <a:endParaRPr lang="en-US"/>
          </a:p>
        </p:txBody>
      </p:sp>
      <p:sp>
        <p:nvSpPr>
          <p:cNvPr id="9" name="Text 6"/>
          <p:cNvSpPr/>
          <p:nvPr/>
        </p:nvSpPr>
        <p:spPr>
          <a:xfrm>
            <a:off x="6446877" y="3752493"/>
            <a:ext cx="206335" cy="345043"/>
          </a:xfrm>
          <a:prstGeom prst="rect">
            <a:avLst/>
          </a:prstGeom>
          <a:noFill/>
          <a:ln/>
        </p:spPr>
        <p:txBody>
          <a:bodyPr wrap="none" lIns="0" tIns="0" rIns="0" bIns="0" rtlCol="0" anchor="t"/>
          <a:lstStyle/>
          <a:p>
            <a:pPr marL="0" indent="0" algn="ctr">
              <a:lnSpc>
                <a:spcPts val="2700"/>
              </a:lnSpc>
              <a:buNone/>
            </a:pPr>
            <a:r>
              <a:rPr lang="en-US" sz="2700" dirty="0">
                <a:solidFill>
                  <a:srgbClr val="E2E6E9"/>
                </a:solidFill>
                <a:latin typeface="Merriweather" pitchFamily="34" charset="0"/>
                <a:ea typeface="Merriweather" pitchFamily="34" charset="-122"/>
                <a:cs typeface="Merriweather" pitchFamily="34" charset="-120"/>
              </a:rPr>
              <a:t>2</a:t>
            </a:r>
            <a:endParaRPr lang="en-US" sz="2700" dirty="0"/>
          </a:p>
        </p:txBody>
      </p:sp>
      <p:sp>
        <p:nvSpPr>
          <p:cNvPr id="10" name="Text 7"/>
          <p:cNvSpPr/>
          <p:nvPr/>
        </p:nvSpPr>
        <p:spPr>
          <a:xfrm>
            <a:off x="7038737" y="3666292"/>
            <a:ext cx="4468535" cy="359331"/>
          </a:xfrm>
          <a:prstGeom prst="rect">
            <a:avLst/>
          </a:prstGeom>
          <a:noFill/>
          <a:ln/>
        </p:spPr>
        <p:txBody>
          <a:bodyPr wrap="none" lIns="0" tIns="0" rIns="0" bIns="0" rtlCol="0" anchor="t"/>
          <a:lstStyle/>
          <a:p>
            <a:pPr marL="0" indent="0">
              <a:lnSpc>
                <a:spcPts val="2800"/>
              </a:lnSpc>
              <a:buNone/>
            </a:pPr>
            <a:r>
              <a:rPr lang="en-US" sz="2250" dirty="0">
                <a:solidFill>
                  <a:srgbClr val="E2E6E9"/>
                </a:solidFill>
                <a:latin typeface="Merriweather" pitchFamily="34" charset="0"/>
                <a:ea typeface="Merriweather" pitchFamily="34" charset="-122"/>
                <a:cs typeface="Merriweather" pitchFamily="34" charset="-120"/>
              </a:rPr>
              <a:t>Graph Neural Networks (GNNs)</a:t>
            </a:r>
            <a:endParaRPr lang="en-US" sz="2250" dirty="0"/>
          </a:p>
        </p:txBody>
      </p:sp>
      <p:sp>
        <p:nvSpPr>
          <p:cNvPr id="11" name="Text 8"/>
          <p:cNvSpPr/>
          <p:nvPr/>
        </p:nvSpPr>
        <p:spPr>
          <a:xfrm>
            <a:off x="7038737" y="4163616"/>
            <a:ext cx="6786682" cy="368022"/>
          </a:xfrm>
          <a:prstGeom prst="rect">
            <a:avLst/>
          </a:prstGeom>
          <a:noFill/>
          <a:ln/>
        </p:spPr>
        <p:txBody>
          <a:bodyPr wrap="none" lIns="0" tIns="0" rIns="0" bIns="0" rtlCol="0" anchor="t"/>
          <a:lstStyle/>
          <a:p>
            <a:pPr marL="0" indent="0">
              <a:lnSpc>
                <a:spcPts val="2850"/>
              </a:lnSpc>
              <a:buNone/>
            </a:pPr>
            <a:r>
              <a:rPr lang="en-US" sz="1800" dirty="0">
                <a:solidFill>
                  <a:srgbClr val="E2E6E9"/>
                </a:solidFill>
                <a:latin typeface="Merriweather" pitchFamily="34" charset="0"/>
                <a:ea typeface="Merriweather" pitchFamily="34" charset="-122"/>
                <a:cs typeface="Merriweather" pitchFamily="34" charset="-120"/>
              </a:rPr>
              <a:t>Maps relationships to find fraud rings.</a:t>
            </a:r>
            <a:endParaRPr lang="en-US" sz="1800" dirty="0"/>
          </a:p>
        </p:txBody>
      </p:sp>
      <p:sp>
        <p:nvSpPr>
          <p:cNvPr id="12" name="Shape 9"/>
          <p:cNvSpPr/>
          <p:nvPr/>
        </p:nvSpPr>
        <p:spPr>
          <a:xfrm>
            <a:off x="6291382" y="5020270"/>
            <a:ext cx="517446" cy="517446"/>
          </a:xfrm>
          <a:prstGeom prst="roundRect">
            <a:avLst>
              <a:gd name="adj" fmla="val 18669"/>
            </a:avLst>
          </a:prstGeom>
          <a:solidFill>
            <a:srgbClr val="003180"/>
          </a:solidFill>
          <a:ln w="7620">
            <a:solidFill>
              <a:srgbClr val="194A99"/>
            </a:solidFill>
            <a:prstDash val="solid"/>
          </a:ln>
        </p:spPr>
        <p:txBody>
          <a:bodyPr/>
          <a:lstStyle/>
          <a:p>
            <a:endParaRPr lang="en-US"/>
          </a:p>
        </p:txBody>
      </p:sp>
      <p:sp>
        <p:nvSpPr>
          <p:cNvPr id="13" name="Text 10"/>
          <p:cNvSpPr/>
          <p:nvPr/>
        </p:nvSpPr>
        <p:spPr>
          <a:xfrm>
            <a:off x="6453426" y="5106472"/>
            <a:ext cx="193238" cy="345043"/>
          </a:xfrm>
          <a:prstGeom prst="rect">
            <a:avLst/>
          </a:prstGeom>
          <a:noFill/>
          <a:ln/>
        </p:spPr>
        <p:txBody>
          <a:bodyPr wrap="none" lIns="0" tIns="0" rIns="0" bIns="0" rtlCol="0" anchor="t"/>
          <a:lstStyle/>
          <a:p>
            <a:pPr marL="0" indent="0" algn="ctr">
              <a:lnSpc>
                <a:spcPts val="2700"/>
              </a:lnSpc>
              <a:buNone/>
            </a:pPr>
            <a:r>
              <a:rPr lang="en-US" sz="2700" dirty="0">
                <a:solidFill>
                  <a:srgbClr val="E2E6E9"/>
                </a:solidFill>
                <a:latin typeface="Merriweather" pitchFamily="34" charset="0"/>
                <a:ea typeface="Merriweather" pitchFamily="34" charset="-122"/>
                <a:cs typeface="Merriweather" pitchFamily="34" charset="-120"/>
              </a:rPr>
              <a:t>3</a:t>
            </a:r>
            <a:endParaRPr lang="en-US" sz="2700" dirty="0"/>
          </a:p>
        </p:txBody>
      </p:sp>
      <p:sp>
        <p:nvSpPr>
          <p:cNvPr id="14" name="Text 11"/>
          <p:cNvSpPr/>
          <p:nvPr/>
        </p:nvSpPr>
        <p:spPr>
          <a:xfrm>
            <a:off x="7038737" y="5020270"/>
            <a:ext cx="5058608" cy="359331"/>
          </a:xfrm>
          <a:prstGeom prst="rect">
            <a:avLst/>
          </a:prstGeom>
          <a:noFill/>
          <a:ln/>
        </p:spPr>
        <p:txBody>
          <a:bodyPr wrap="none" lIns="0" tIns="0" rIns="0" bIns="0" rtlCol="0" anchor="t"/>
          <a:lstStyle/>
          <a:p>
            <a:pPr marL="0" indent="0">
              <a:lnSpc>
                <a:spcPts val="2800"/>
              </a:lnSpc>
              <a:buNone/>
            </a:pPr>
            <a:r>
              <a:rPr lang="en-US" sz="2250" dirty="0">
                <a:solidFill>
                  <a:srgbClr val="E2E6E9"/>
                </a:solidFill>
                <a:latin typeface="Merriweather" pitchFamily="34" charset="0"/>
                <a:ea typeface="Merriweather" pitchFamily="34" charset="-122"/>
                <a:cs typeface="Merriweather" pitchFamily="34" charset="-120"/>
              </a:rPr>
              <a:t>Natural Language Processing (NLP)</a:t>
            </a:r>
            <a:endParaRPr lang="en-US" sz="2250" dirty="0"/>
          </a:p>
        </p:txBody>
      </p:sp>
      <p:sp>
        <p:nvSpPr>
          <p:cNvPr id="15" name="Text 12"/>
          <p:cNvSpPr/>
          <p:nvPr/>
        </p:nvSpPr>
        <p:spPr>
          <a:xfrm>
            <a:off x="7038737" y="5517594"/>
            <a:ext cx="6786682" cy="368022"/>
          </a:xfrm>
          <a:prstGeom prst="rect">
            <a:avLst/>
          </a:prstGeom>
          <a:noFill/>
          <a:ln/>
        </p:spPr>
        <p:txBody>
          <a:bodyPr wrap="none" lIns="0" tIns="0" rIns="0" bIns="0" rtlCol="0" anchor="t"/>
          <a:lstStyle/>
          <a:p>
            <a:pPr marL="0" indent="0">
              <a:lnSpc>
                <a:spcPts val="2850"/>
              </a:lnSpc>
              <a:buNone/>
            </a:pPr>
            <a:r>
              <a:rPr lang="en-US" sz="1800" dirty="0">
                <a:solidFill>
                  <a:srgbClr val="E2E6E9"/>
                </a:solidFill>
                <a:latin typeface="Merriweather" pitchFamily="34" charset="0"/>
                <a:ea typeface="Merriweather" pitchFamily="34" charset="-122"/>
                <a:cs typeface="Merriweather" pitchFamily="34" charset="-120"/>
              </a:rPr>
              <a:t>Detects fraudulent text.</a:t>
            </a:r>
            <a:endParaRPr lang="en-US" sz="1800" dirty="0"/>
          </a:p>
        </p:txBody>
      </p:sp>
      <p:sp>
        <p:nvSpPr>
          <p:cNvPr id="16" name="Shape 13"/>
          <p:cNvSpPr/>
          <p:nvPr/>
        </p:nvSpPr>
        <p:spPr>
          <a:xfrm>
            <a:off x="6291382" y="6374249"/>
            <a:ext cx="517446" cy="517446"/>
          </a:xfrm>
          <a:prstGeom prst="roundRect">
            <a:avLst>
              <a:gd name="adj" fmla="val 18669"/>
            </a:avLst>
          </a:prstGeom>
          <a:solidFill>
            <a:srgbClr val="003180"/>
          </a:solidFill>
          <a:ln w="7620">
            <a:solidFill>
              <a:srgbClr val="194A99"/>
            </a:solidFill>
            <a:prstDash val="solid"/>
          </a:ln>
        </p:spPr>
        <p:txBody>
          <a:bodyPr/>
          <a:lstStyle/>
          <a:p>
            <a:endParaRPr lang="en-US"/>
          </a:p>
        </p:txBody>
      </p:sp>
      <p:sp>
        <p:nvSpPr>
          <p:cNvPr id="17" name="Text 14"/>
          <p:cNvSpPr/>
          <p:nvPr/>
        </p:nvSpPr>
        <p:spPr>
          <a:xfrm>
            <a:off x="6439019" y="6460450"/>
            <a:ext cx="222171" cy="345043"/>
          </a:xfrm>
          <a:prstGeom prst="rect">
            <a:avLst/>
          </a:prstGeom>
          <a:noFill/>
          <a:ln/>
        </p:spPr>
        <p:txBody>
          <a:bodyPr wrap="none" lIns="0" tIns="0" rIns="0" bIns="0" rtlCol="0" anchor="t"/>
          <a:lstStyle/>
          <a:p>
            <a:pPr marL="0" indent="0" algn="ctr">
              <a:lnSpc>
                <a:spcPts val="2700"/>
              </a:lnSpc>
              <a:buNone/>
            </a:pPr>
            <a:r>
              <a:rPr lang="en-US" sz="2700" dirty="0">
                <a:solidFill>
                  <a:srgbClr val="E2E6E9"/>
                </a:solidFill>
                <a:latin typeface="Merriweather" pitchFamily="34" charset="0"/>
                <a:ea typeface="Merriweather" pitchFamily="34" charset="-122"/>
                <a:cs typeface="Merriweather" pitchFamily="34" charset="-120"/>
              </a:rPr>
              <a:t>4</a:t>
            </a:r>
            <a:endParaRPr lang="en-US" sz="2700" dirty="0"/>
          </a:p>
        </p:txBody>
      </p:sp>
      <p:sp>
        <p:nvSpPr>
          <p:cNvPr id="18" name="Text 15"/>
          <p:cNvSpPr/>
          <p:nvPr/>
        </p:nvSpPr>
        <p:spPr>
          <a:xfrm>
            <a:off x="7038737" y="6374249"/>
            <a:ext cx="3231475" cy="359331"/>
          </a:xfrm>
          <a:prstGeom prst="rect">
            <a:avLst/>
          </a:prstGeom>
          <a:noFill/>
          <a:ln/>
        </p:spPr>
        <p:txBody>
          <a:bodyPr wrap="none" lIns="0" tIns="0" rIns="0" bIns="0" rtlCol="0" anchor="t"/>
          <a:lstStyle/>
          <a:p>
            <a:pPr marL="0" indent="0">
              <a:lnSpc>
                <a:spcPts val="2800"/>
              </a:lnSpc>
              <a:buNone/>
            </a:pPr>
            <a:r>
              <a:rPr lang="en-US" sz="2250" dirty="0">
                <a:solidFill>
                  <a:srgbClr val="E2E6E9"/>
                </a:solidFill>
                <a:latin typeface="Merriweather" pitchFamily="34" charset="0"/>
                <a:ea typeface="Merriweather" pitchFamily="34" charset="-122"/>
                <a:cs typeface="Merriweather" pitchFamily="34" charset="-120"/>
              </a:rPr>
              <a:t>Real-Time Monitoring</a:t>
            </a:r>
            <a:endParaRPr lang="en-US" sz="2250" dirty="0"/>
          </a:p>
        </p:txBody>
      </p:sp>
      <p:sp>
        <p:nvSpPr>
          <p:cNvPr id="19" name="Text 16"/>
          <p:cNvSpPr/>
          <p:nvPr/>
        </p:nvSpPr>
        <p:spPr>
          <a:xfrm>
            <a:off x="7038737" y="6871573"/>
            <a:ext cx="6786682" cy="368022"/>
          </a:xfrm>
          <a:prstGeom prst="rect">
            <a:avLst/>
          </a:prstGeom>
          <a:noFill/>
          <a:ln/>
        </p:spPr>
        <p:txBody>
          <a:bodyPr wrap="none" lIns="0" tIns="0" rIns="0" bIns="0" rtlCol="0" anchor="t"/>
          <a:lstStyle/>
          <a:p>
            <a:pPr marL="0" indent="0">
              <a:lnSpc>
                <a:spcPts val="2850"/>
              </a:lnSpc>
              <a:buNone/>
            </a:pPr>
            <a:r>
              <a:rPr lang="en-US" sz="1800" dirty="0">
                <a:solidFill>
                  <a:srgbClr val="E2E6E9"/>
                </a:solidFill>
                <a:latin typeface="Merriweather" pitchFamily="34" charset="0"/>
                <a:ea typeface="Merriweather" pitchFamily="34" charset="-122"/>
                <a:cs typeface="Merriweather" pitchFamily="34" charset="-120"/>
              </a:rPr>
              <a:t>Flags suspicious activity fast.</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969895"/>
          </a:xfrm>
          <a:prstGeom prst="rect">
            <a:avLst/>
          </a:prstGeom>
        </p:spPr>
      </p:pic>
      <p:sp>
        <p:nvSpPr>
          <p:cNvPr id="3" name="Text 0"/>
          <p:cNvSpPr/>
          <p:nvPr/>
        </p:nvSpPr>
        <p:spPr>
          <a:xfrm>
            <a:off x="831533" y="3623429"/>
            <a:ext cx="7744301" cy="742474"/>
          </a:xfrm>
          <a:prstGeom prst="rect">
            <a:avLst/>
          </a:prstGeom>
          <a:noFill/>
          <a:ln/>
        </p:spPr>
        <p:txBody>
          <a:bodyPr wrap="none" lIns="0" tIns="0" rIns="0" bIns="0" rtlCol="0" anchor="t"/>
          <a:lstStyle/>
          <a:p>
            <a:pPr marL="0" indent="0">
              <a:lnSpc>
                <a:spcPts val="5800"/>
              </a:lnSpc>
              <a:buNone/>
            </a:pPr>
            <a:r>
              <a:rPr lang="en-US" sz="4650" dirty="0">
                <a:solidFill>
                  <a:srgbClr val="F5F0F0"/>
                </a:solidFill>
                <a:latin typeface="Merriweather" pitchFamily="34" charset="0"/>
                <a:ea typeface="Merriweather" pitchFamily="34" charset="-122"/>
                <a:cs typeface="Merriweather" pitchFamily="34" charset="-120"/>
              </a:rPr>
              <a:t>Quantitative Benefits of AI</a:t>
            </a:r>
            <a:endParaRPr lang="en-US" sz="4650" dirty="0"/>
          </a:p>
        </p:txBody>
      </p:sp>
      <p:sp>
        <p:nvSpPr>
          <p:cNvPr id="4" name="Text 1"/>
          <p:cNvSpPr/>
          <p:nvPr/>
        </p:nvSpPr>
        <p:spPr>
          <a:xfrm>
            <a:off x="831533" y="4840962"/>
            <a:ext cx="4084796" cy="784027"/>
          </a:xfrm>
          <a:prstGeom prst="rect">
            <a:avLst/>
          </a:prstGeom>
          <a:noFill/>
          <a:ln/>
        </p:spPr>
        <p:txBody>
          <a:bodyPr wrap="none" lIns="0" tIns="0" rIns="0" bIns="0" rtlCol="0" anchor="t"/>
          <a:lstStyle/>
          <a:p>
            <a:pPr marL="0" indent="0" algn="ctr">
              <a:lnSpc>
                <a:spcPts val="6150"/>
              </a:lnSpc>
              <a:buNone/>
            </a:pPr>
            <a:r>
              <a:rPr lang="en-US" sz="6150" dirty="0">
                <a:solidFill>
                  <a:srgbClr val="E2E6E9"/>
                </a:solidFill>
                <a:latin typeface="Merriweather" pitchFamily="34" charset="0"/>
                <a:ea typeface="Merriweather" pitchFamily="34" charset="-122"/>
                <a:cs typeface="Merriweather" pitchFamily="34" charset="-120"/>
              </a:rPr>
              <a:t>100M</a:t>
            </a:r>
            <a:endParaRPr lang="en-US" sz="6150" dirty="0"/>
          </a:p>
        </p:txBody>
      </p:sp>
      <p:sp>
        <p:nvSpPr>
          <p:cNvPr id="5" name="Text 2"/>
          <p:cNvSpPr/>
          <p:nvPr/>
        </p:nvSpPr>
        <p:spPr>
          <a:xfrm>
            <a:off x="1388983" y="5921812"/>
            <a:ext cx="2969895" cy="371118"/>
          </a:xfrm>
          <a:prstGeom prst="rect">
            <a:avLst/>
          </a:prstGeom>
          <a:noFill/>
          <a:ln/>
        </p:spPr>
        <p:txBody>
          <a:bodyPr wrap="none" lIns="0" tIns="0" rIns="0" bIns="0" rtlCol="0" anchor="t"/>
          <a:lstStyle/>
          <a:p>
            <a:pPr marL="0" indent="0" algn="ctr">
              <a:lnSpc>
                <a:spcPts val="2900"/>
              </a:lnSpc>
              <a:buNone/>
            </a:pPr>
            <a:r>
              <a:rPr lang="en-US" sz="2300" dirty="0">
                <a:solidFill>
                  <a:srgbClr val="E2E6E9"/>
                </a:solidFill>
                <a:latin typeface="Merriweather" pitchFamily="34" charset="0"/>
                <a:ea typeface="Merriweather" pitchFamily="34" charset="-122"/>
                <a:cs typeface="Merriweather" pitchFamily="34" charset="-120"/>
              </a:rPr>
              <a:t>Loss Prevention</a:t>
            </a:r>
            <a:endParaRPr lang="en-US" sz="2300" dirty="0"/>
          </a:p>
        </p:txBody>
      </p:sp>
      <p:sp>
        <p:nvSpPr>
          <p:cNvPr id="6" name="Text 3"/>
          <p:cNvSpPr/>
          <p:nvPr/>
        </p:nvSpPr>
        <p:spPr>
          <a:xfrm>
            <a:off x="831533" y="6435447"/>
            <a:ext cx="4084796" cy="1140500"/>
          </a:xfrm>
          <a:prstGeom prst="rect">
            <a:avLst/>
          </a:prstGeom>
          <a:noFill/>
          <a:ln/>
        </p:spPr>
        <p:txBody>
          <a:bodyPr wrap="square" lIns="0" tIns="0" rIns="0" bIns="0" rtlCol="0" anchor="t"/>
          <a:lstStyle/>
          <a:p>
            <a:pPr marL="0" indent="0" algn="ctr">
              <a:lnSpc>
                <a:spcPts val="2950"/>
              </a:lnSpc>
              <a:buNone/>
            </a:pPr>
            <a:r>
              <a:rPr lang="en-US" sz="1850" dirty="0">
                <a:solidFill>
                  <a:srgbClr val="E2E6E9"/>
                </a:solidFill>
                <a:latin typeface="Merriweather" pitchFamily="34" charset="0"/>
                <a:ea typeface="Merriweather" pitchFamily="34" charset="-122"/>
                <a:cs typeface="Merriweather" pitchFamily="34" charset="-120"/>
              </a:rPr>
              <a:t>AI implementations have prevented losses exceeding $100 million annually.</a:t>
            </a:r>
            <a:endParaRPr lang="en-US" sz="1850" dirty="0"/>
          </a:p>
        </p:txBody>
      </p:sp>
      <p:sp>
        <p:nvSpPr>
          <p:cNvPr id="7" name="Text 4"/>
          <p:cNvSpPr/>
          <p:nvPr/>
        </p:nvSpPr>
        <p:spPr>
          <a:xfrm>
            <a:off x="5272683" y="4840962"/>
            <a:ext cx="4084915" cy="784027"/>
          </a:xfrm>
          <a:prstGeom prst="rect">
            <a:avLst/>
          </a:prstGeom>
          <a:noFill/>
          <a:ln/>
        </p:spPr>
        <p:txBody>
          <a:bodyPr wrap="none" lIns="0" tIns="0" rIns="0" bIns="0" rtlCol="0" anchor="t"/>
          <a:lstStyle/>
          <a:p>
            <a:pPr marL="0" indent="0" algn="ctr">
              <a:lnSpc>
                <a:spcPts val="6150"/>
              </a:lnSpc>
              <a:buNone/>
            </a:pPr>
            <a:r>
              <a:rPr lang="en-US" sz="6150" dirty="0">
                <a:solidFill>
                  <a:srgbClr val="E2E6E9"/>
                </a:solidFill>
                <a:latin typeface="Merriweather" pitchFamily="34" charset="0"/>
                <a:ea typeface="Merriweather" pitchFamily="34" charset="-122"/>
                <a:cs typeface="Merriweather" pitchFamily="34" charset="-120"/>
              </a:rPr>
              <a:t>Significant</a:t>
            </a:r>
            <a:endParaRPr lang="en-US" sz="6150" dirty="0"/>
          </a:p>
        </p:txBody>
      </p:sp>
      <p:sp>
        <p:nvSpPr>
          <p:cNvPr id="8" name="Text 5"/>
          <p:cNvSpPr/>
          <p:nvPr/>
        </p:nvSpPr>
        <p:spPr>
          <a:xfrm>
            <a:off x="5830133" y="5921812"/>
            <a:ext cx="2969895" cy="371118"/>
          </a:xfrm>
          <a:prstGeom prst="rect">
            <a:avLst/>
          </a:prstGeom>
          <a:noFill/>
          <a:ln/>
        </p:spPr>
        <p:txBody>
          <a:bodyPr wrap="none" lIns="0" tIns="0" rIns="0" bIns="0" rtlCol="0" anchor="t"/>
          <a:lstStyle/>
          <a:p>
            <a:pPr marL="0" indent="0" algn="ctr">
              <a:lnSpc>
                <a:spcPts val="2900"/>
              </a:lnSpc>
              <a:buNone/>
            </a:pPr>
            <a:r>
              <a:rPr lang="en-US" sz="2300" dirty="0">
                <a:solidFill>
                  <a:srgbClr val="E2E6E9"/>
                </a:solidFill>
                <a:latin typeface="Merriweather" pitchFamily="34" charset="0"/>
                <a:ea typeface="Merriweather" pitchFamily="34" charset="-122"/>
                <a:cs typeface="Merriweather" pitchFamily="34" charset="-120"/>
              </a:rPr>
              <a:t>Fraud Reduction</a:t>
            </a:r>
            <a:endParaRPr lang="en-US" sz="2300" dirty="0"/>
          </a:p>
        </p:txBody>
      </p:sp>
      <p:sp>
        <p:nvSpPr>
          <p:cNvPr id="9" name="Text 6"/>
          <p:cNvSpPr/>
          <p:nvPr/>
        </p:nvSpPr>
        <p:spPr>
          <a:xfrm>
            <a:off x="5272683" y="6435447"/>
            <a:ext cx="4084915" cy="760333"/>
          </a:xfrm>
          <a:prstGeom prst="rect">
            <a:avLst/>
          </a:prstGeom>
          <a:noFill/>
          <a:ln/>
        </p:spPr>
        <p:txBody>
          <a:bodyPr wrap="square" lIns="0" tIns="0" rIns="0" bIns="0" rtlCol="0" anchor="t"/>
          <a:lstStyle/>
          <a:p>
            <a:pPr marL="0" indent="0" algn="ctr">
              <a:lnSpc>
                <a:spcPts val="2950"/>
              </a:lnSpc>
              <a:buNone/>
            </a:pPr>
            <a:r>
              <a:rPr lang="en-US" sz="1850" dirty="0">
                <a:solidFill>
                  <a:srgbClr val="E2E6E9"/>
                </a:solidFill>
                <a:latin typeface="Merriweather" pitchFamily="34" charset="0"/>
                <a:ea typeface="Merriweather" pitchFamily="34" charset="-122"/>
                <a:cs typeface="Merriweather" pitchFamily="34" charset="-120"/>
              </a:rPr>
              <a:t>AI systems reduce fraud by early anomaly detection.</a:t>
            </a:r>
            <a:endParaRPr lang="en-US" sz="1850" dirty="0"/>
          </a:p>
        </p:txBody>
      </p:sp>
      <p:sp>
        <p:nvSpPr>
          <p:cNvPr id="10" name="Text 7"/>
          <p:cNvSpPr/>
          <p:nvPr/>
        </p:nvSpPr>
        <p:spPr>
          <a:xfrm>
            <a:off x="9713952" y="4840962"/>
            <a:ext cx="4084796" cy="784027"/>
          </a:xfrm>
          <a:prstGeom prst="rect">
            <a:avLst/>
          </a:prstGeom>
          <a:noFill/>
          <a:ln/>
        </p:spPr>
        <p:txBody>
          <a:bodyPr wrap="none" lIns="0" tIns="0" rIns="0" bIns="0" rtlCol="0" anchor="t"/>
          <a:lstStyle/>
          <a:p>
            <a:pPr marL="0" indent="0" algn="ctr">
              <a:lnSpc>
                <a:spcPts val="6150"/>
              </a:lnSpc>
              <a:buNone/>
            </a:pPr>
            <a:r>
              <a:rPr lang="en-US" sz="6150" dirty="0">
                <a:solidFill>
                  <a:srgbClr val="E2E6E9"/>
                </a:solidFill>
                <a:latin typeface="Merriweather" pitchFamily="34" charset="0"/>
                <a:ea typeface="Merriweather" pitchFamily="34" charset="-122"/>
                <a:cs typeface="Merriweather" pitchFamily="34" charset="-120"/>
              </a:rPr>
              <a:t>Fewer</a:t>
            </a:r>
            <a:endParaRPr lang="en-US" sz="6150" dirty="0"/>
          </a:p>
        </p:txBody>
      </p:sp>
      <p:sp>
        <p:nvSpPr>
          <p:cNvPr id="11" name="Text 8"/>
          <p:cNvSpPr/>
          <p:nvPr/>
        </p:nvSpPr>
        <p:spPr>
          <a:xfrm>
            <a:off x="10271403" y="5921812"/>
            <a:ext cx="2969895" cy="371118"/>
          </a:xfrm>
          <a:prstGeom prst="rect">
            <a:avLst/>
          </a:prstGeom>
          <a:noFill/>
          <a:ln/>
        </p:spPr>
        <p:txBody>
          <a:bodyPr wrap="none" lIns="0" tIns="0" rIns="0" bIns="0" rtlCol="0" anchor="t"/>
          <a:lstStyle/>
          <a:p>
            <a:pPr marL="0" indent="0" algn="ctr">
              <a:lnSpc>
                <a:spcPts val="2900"/>
              </a:lnSpc>
              <a:buNone/>
            </a:pPr>
            <a:r>
              <a:rPr lang="en-US" sz="2300" dirty="0">
                <a:solidFill>
                  <a:srgbClr val="E2E6E9"/>
                </a:solidFill>
                <a:latin typeface="Merriweather" pitchFamily="34" charset="0"/>
                <a:ea typeface="Merriweather" pitchFamily="34" charset="-122"/>
                <a:cs typeface="Merriweather" pitchFamily="34" charset="-120"/>
              </a:rPr>
              <a:t>False Positives</a:t>
            </a:r>
            <a:endParaRPr lang="en-US" sz="2300" dirty="0"/>
          </a:p>
        </p:txBody>
      </p:sp>
      <p:sp>
        <p:nvSpPr>
          <p:cNvPr id="12" name="Text 9"/>
          <p:cNvSpPr/>
          <p:nvPr/>
        </p:nvSpPr>
        <p:spPr>
          <a:xfrm>
            <a:off x="9713952" y="6435447"/>
            <a:ext cx="4084796" cy="760333"/>
          </a:xfrm>
          <a:prstGeom prst="rect">
            <a:avLst/>
          </a:prstGeom>
          <a:noFill/>
          <a:ln/>
        </p:spPr>
        <p:txBody>
          <a:bodyPr wrap="square" lIns="0" tIns="0" rIns="0" bIns="0" rtlCol="0" anchor="t"/>
          <a:lstStyle/>
          <a:p>
            <a:pPr marL="0" indent="0" algn="ctr">
              <a:lnSpc>
                <a:spcPts val="2950"/>
              </a:lnSpc>
              <a:buNone/>
            </a:pPr>
            <a:r>
              <a:rPr lang="en-US" sz="1850" dirty="0">
                <a:solidFill>
                  <a:srgbClr val="E2E6E9"/>
                </a:solidFill>
                <a:latin typeface="Merriweather" pitchFamily="34" charset="0"/>
                <a:ea typeface="Merriweather" pitchFamily="34" charset="-122"/>
                <a:cs typeface="Merriweather" pitchFamily="34" charset="-120"/>
              </a:rPr>
              <a:t>Improved accuracy reduces unnecessary transaction flags.</a:t>
            </a:r>
            <a:endParaRPr lang="en-US" sz="1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3085386"/>
          </a:xfrm>
          <a:prstGeom prst="rect">
            <a:avLst/>
          </a:prstGeom>
        </p:spPr>
      </p:pic>
      <p:sp>
        <p:nvSpPr>
          <p:cNvPr id="3" name="Text 0"/>
          <p:cNvSpPr/>
          <p:nvPr/>
        </p:nvSpPr>
        <p:spPr>
          <a:xfrm>
            <a:off x="863798" y="3993237"/>
            <a:ext cx="6170771" cy="771287"/>
          </a:xfrm>
          <a:prstGeom prst="rect">
            <a:avLst/>
          </a:prstGeom>
          <a:noFill/>
          <a:ln/>
        </p:spPr>
        <p:txBody>
          <a:bodyPr wrap="none" lIns="0" tIns="0" rIns="0" bIns="0" rtlCol="0" anchor="t"/>
          <a:lstStyle/>
          <a:p>
            <a:pPr marL="0" indent="0">
              <a:lnSpc>
                <a:spcPts val="6050"/>
              </a:lnSpc>
              <a:buNone/>
            </a:pPr>
            <a:r>
              <a:rPr lang="en-US" sz="4850" dirty="0">
                <a:solidFill>
                  <a:srgbClr val="F5F0F0"/>
                </a:solidFill>
                <a:latin typeface="Merriweather" pitchFamily="34" charset="0"/>
                <a:ea typeface="Merriweather" pitchFamily="34" charset="-122"/>
                <a:cs typeface="Merriweather" pitchFamily="34" charset="-120"/>
              </a:rPr>
              <a:t>Qualitative Benefits</a:t>
            </a:r>
            <a:endParaRPr lang="en-US" sz="4850" dirty="0"/>
          </a:p>
        </p:txBody>
      </p:sp>
      <p:pic>
        <p:nvPicPr>
          <p:cNvPr id="4" name="Image 1" descr="preencoded.png"/>
          <p:cNvPicPr>
            <a:picLocks noChangeAspect="1"/>
          </p:cNvPicPr>
          <p:nvPr/>
        </p:nvPicPr>
        <p:blipFill>
          <a:blip r:embed="rId4"/>
          <a:stretch>
            <a:fillRect/>
          </a:stretch>
        </p:blipFill>
        <p:spPr>
          <a:xfrm>
            <a:off x="863798" y="5134689"/>
            <a:ext cx="616982" cy="616982"/>
          </a:xfrm>
          <a:prstGeom prst="rect">
            <a:avLst/>
          </a:prstGeom>
        </p:spPr>
      </p:pic>
      <p:sp>
        <p:nvSpPr>
          <p:cNvPr id="5" name="Text 1"/>
          <p:cNvSpPr/>
          <p:nvPr/>
        </p:nvSpPr>
        <p:spPr>
          <a:xfrm>
            <a:off x="863798" y="5998488"/>
            <a:ext cx="3085386"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Customer Trust</a:t>
            </a:r>
            <a:endParaRPr lang="en-US" sz="2400" dirty="0"/>
          </a:p>
        </p:txBody>
      </p:sp>
      <p:sp>
        <p:nvSpPr>
          <p:cNvPr id="6" name="Text 2"/>
          <p:cNvSpPr/>
          <p:nvPr/>
        </p:nvSpPr>
        <p:spPr>
          <a:xfrm>
            <a:off x="863798" y="6532007"/>
            <a:ext cx="4054078" cy="39481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Protection reassures customers.</a:t>
            </a:r>
            <a:endParaRPr lang="en-US" sz="1900" dirty="0"/>
          </a:p>
        </p:txBody>
      </p:sp>
      <p:pic>
        <p:nvPicPr>
          <p:cNvPr id="7" name="Image 2" descr="preencoded.png"/>
          <p:cNvPicPr>
            <a:picLocks noChangeAspect="1"/>
          </p:cNvPicPr>
          <p:nvPr/>
        </p:nvPicPr>
        <p:blipFill>
          <a:blip r:embed="rId5"/>
          <a:stretch>
            <a:fillRect/>
          </a:stretch>
        </p:blipFill>
        <p:spPr>
          <a:xfrm>
            <a:off x="5288042" y="5134689"/>
            <a:ext cx="616982" cy="616982"/>
          </a:xfrm>
          <a:prstGeom prst="rect">
            <a:avLst/>
          </a:prstGeom>
        </p:spPr>
      </p:pic>
      <p:sp>
        <p:nvSpPr>
          <p:cNvPr id="8" name="Text 3"/>
          <p:cNvSpPr/>
          <p:nvPr/>
        </p:nvSpPr>
        <p:spPr>
          <a:xfrm>
            <a:off x="5288042" y="5998488"/>
            <a:ext cx="3085386"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Scalability</a:t>
            </a:r>
            <a:endParaRPr lang="en-US" sz="2400" dirty="0"/>
          </a:p>
        </p:txBody>
      </p:sp>
      <p:sp>
        <p:nvSpPr>
          <p:cNvPr id="9" name="Text 4"/>
          <p:cNvSpPr/>
          <p:nvPr/>
        </p:nvSpPr>
        <p:spPr>
          <a:xfrm>
            <a:off x="5288042" y="6532007"/>
            <a:ext cx="4054197" cy="789622"/>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Handles large transaction volumes.</a:t>
            </a:r>
            <a:endParaRPr lang="en-US" sz="1900" dirty="0"/>
          </a:p>
        </p:txBody>
      </p:sp>
      <p:pic>
        <p:nvPicPr>
          <p:cNvPr id="10" name="Image 3" descr="preencoded.png"/>
          <p:cNvPicPr>
            <a:picLocks noChangeAspect="1"/>
          </p:cNvPicPr>
          <p:nvPr/>
        </p:nvPicPr>
        <p:blipFill>
          <a:blip r:embed="rId6"/>
          <a:stretch>
            <a:fillRect/>
          </a:stretch>
        </p:blipFill>
        <p:spPr>
          <a:xfrm>
            <a:off x="9712404" y="5134689"/>
            <a:ext cx="616982" cy="616982"/>
          </a:xfrm>
          <a:prstGeom prst="rect">
            <a:avLst/>
          </a:prstGeom>
        </p:spPr>
      </p:pic>
      <p:sp>
        <p:nvSpPr>
          <p:cNvPr id="11" name="Text 5"/>
          <p:cNvSpPr/>
          <p:nvPr/>
        </p:nvSpPr>
        <p:spPr>
          <a:xfrm>
            <a:off x="9712404" y="5998488"/>
            <a:ext cx="3182779"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Proactive Prevention</a:t>
            </a:r>
            <a:endParaRPr lang="en-US" sz="2400" dirty="0"/>
          </a:p>
        </p:txBody>
      </p:sp>
      <p:sp>
        <p:nvSpPr>
          <p:cNvPr id="12" name="Text 6"/>
          <p:cNvSpPr/>
          <p:nvPr/>
        </p:nvSpPr>
        <p:spPr>
          <a:xfrm>
            <a:off x="9712404" y="6532007"/>
            <a:ext cx="4054197" cy="39481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Detects emerging tactics early.</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50198" y="1322665"/>
            <a:ext cx="6448782" cy="771287"/>
          </a:xfrm>
          <a:prstGeom prst="rect">
            <a:avLst/>
          </a:prstGeom>
          <a:noFill/>
          <a:ln/>
        </p:spPr>
        <p:txBody>
          <a:bodyPr wrap="none" lIns="0" tIns="0" rIns="0" bIns="0" rtlCol="0" anchor="t"/>
          <a:lstStyle/>
          <a:p>
            <a:pPr marL="0" indent="0">
              <a:lnSpc>
                <a:spcPts val="6050"/>
              </a:lnSpc>
              <a:buNone/>
            </a:pPr>
            <a:r>
              <a:rPr lang="en-US" sz="4850" dirty="0">
                <a:solidFill>
                  <a:srgbClr val="F5F0F0"/>
                </a:solidFill>
                <a:latin typeface="Merriweather" pitchFamily="34" charset="0"/>
                <a:ea typeface="Merriweather" pitchFamily="34" charset="-122"/>
                <a:cs typeface="Merriweather" pitchFamily="34" charset="-120"/>
              </a:rPr>
              <a:t>Technical Challenges</a:t>
            </a:r>
            <a:endParaRPr lang="en-US" sz="4850" dirty="0"/>
          </a:p>
        </p:txBody>
      </p:sp>
      <p:pic>
        <p:nvPicPr>
          <p:cNvPr id="4" name="Image 1" descr="preencoded.png"/>
          <p:cNvPicPr>
            <a:picLocks noChangeAspect="1"/>
          </p:cNvPicPr>
          <p:nvPr/>
        </p:nvPicPr>
        <p:blipFill>
          <a:blip r:embed="rId4"/>
          <a:stretch>
            <a:fillRect/>
          </a:stretch>
        </p:blipFill>
        <p:spPr>
          <a:xfrm>
            <a:off x="6350198" y="2464118"/>
            <a:ext cx="1234083" cy="1480899"/>
          </a:xfrm>
          <a:prstGeom prst="rect">
            <a:avLst/>
          </a:prstGeom>
        </p:spPr>
      </p:pic>
      <p:sp>
        <p:nvSpPr>
          <p:cNvPr id="5" name="Text 1"/>
          <p:cNvSpPr/>
          <p:nvPr/>
        </p:nvSpPr>
        <p:spPr>
          <a:xfrm>
            <a:off x="7954447" y="2710934"/>
            <a:ext cx="3085386"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Data Privacy</a:t>
            </a:r>
            <a:endParaRPr lang="en-US" sz="2400" dirty="0"/>
          </a:p>
        </p:txBody>
      </p:sp>
      <p:sp>
        <p:nvSpPr>
          <p:cNvPr id="6" name="Text 2"/>
          <p:cNvSpPr/>
          <p:nvPr/>
        </p:nvSpPr>
        <p:spPr>
          <a:xfrm>
            <a:off x="7954447" y="3244453"/>
            <a:ext cx="5812155" cy="39481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Sensitive data raises regulatory issues.</a:t>
            </a:r>
            <a:endParaRPr lang="en-US" sz="1900" dirty="0"/>
          </a:p>
        </p:txBody>
      </p:sp>
      <p:pic>
        <p:nvPicPr>
          <p:cNvPr id="7" name="Image 2" descr="preencoded.png"/>
          <p:cNvPicPr>
            <a:picLocks noChangeAspect="1"/>
          </p:cNvPicPr>
          <p:nvPr/>
        </p:nvPicPr>
        <p:blipFill>
          <a:blip r:embed="rId5"/>
          <a:stretch>
            <a:fillRect/>
          </a:stretch>
        </p:blipFill>
        <p:spPr>
          <a:xfrm>
            <a:off x="6350198" y="3945017"/>
            <a:ext cx="1234083" cy="1480899"/>
          </a:xfrm>
          <a:prstGeom prst="rect">
            <a:avLst/>
          </a:prstGeom>
        </p:spPr>
      </p:pic>
      <p:sp>
        <p:nvSpPr>
          <p:cNvPr id="8" name="Text 3"/>
          <p:cNvSpPr/>
          <p:nvPr/>
        </p:nvSpPr>
        <p:spPr>
          <a:xfrm>
            <a:off x="7954447" y="4191833"/>
            <a:ext cx="3085386"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High Costs</a:t>
            </a:r>
            <a:endParaRPr lang="en-US" sz="2400" dirty="0"/>
          </a:p>
        </p:txBody>
      </p:sp>
      <p:sp>
        <p:nvSpPr>
          <p:cNvPr id="9" name="Text 4"/>
          <p:cNvSpPr/>
          <p:nvPr/>
        </p:nvSpPr>
        <p:spPr>
          <a:xfrm>
            <a:off x="7954447" y="4725353"/>
            <a:ext cx="5812155" cy="39481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AI systems need investment.</a:t>
            </a:r>
            <a:endParaRPr lang="en-US" sz="1900" dirty="0"/>
          </a:p>
        </p:txBody>
      </p:sp>
      <p:pic>
        <p:nvPicPr>
          <p:cNvPr id="10" name="Image 3" descr="preencoded.png"/>
          <p:cNvPicPr>
            <a:picLocks noChangeAspect="1"/>
          </p:cNvPicPr>
          <p:nvPr/>
        </p:nvPicPr>
        <p:blipFill>
          <a:blip r:embed="rId6"/>
          <a:stretch>
            <a:fillRect/>
          </a:stretch>
        </p:blipFill>
        <p:spPr>
          <a:xfrm>
            <a:off x="6350198" y="5425916"/>
            <a:ext cx="1234083" cy="1480899"/>
          </a:xfrm>
          <a:prstGeom prst="rect">
            <a:avLst/>
          </a:prstGeom>
        </p:spPr>
      </p:pic>
      <p:sp>
        <p:nvSpPr>
          <p:cNvPr id="11" name="Text 5"/>
          <p:cNvSpPr/>
          <p:nvPr/>
        </p:nvSpPr>
        <p:spPr>
          <a:xfrm>
            <a:off x="7954447" y="5672733"/>
            <a:ext cx="3085386"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Algorithm Bias</a:t>
            </a:r>
            <a:endParaRPr lang="en-US" sz="2400" dirty="0"/>
          </a:p>
        </p:txBody>
      </p:sp>
      <p:sp>
        <p:nvSpPr>
          <p:cNvPr id="12" name="Text 6"/>
          <p:cNvSpPr/>
          <p:nvPr/>
        </p:nvSpPr>
        <p:spPr>
          <a:xfrm>
            <a:off x="7954447" y="6206252"/>
            <a:ext cx="5812155" cy="39481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Models can have uneven detection.</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50198" y="1998702"/>
            <a:ext cx="7070050" cy="771287"/>
          </a:xfrm>
          <a:prstGeom prst="rect">
            <a:avLst/>
          </a:prstGeom>
          <a:noFill/>
          <a:ln/>
        </p:spPr>
        <p:txBody>
          <a:bodyPr wrap="none" lIns="0" tIns="0" rIns="0" bIns="0" rtlCol="0" anchor="t"/>
          <a:lstStyle/>
          <a:p>
            <a:pPr marL="0" indent="0">
              <a:lnSpc>
                <a:spcPts val="6050"/>
              </a:lnSpc>
              <a:buNone/>
            </a:pPr>
            <a:r>
              <a:rPr lang="en-US" sz="4850" dirty="0">
                <a:solidFill>
                  <a:srgbClr val="F5F0F0"/>
                </a:solidFill>
                <a:latin typeface="Merriweather" pitchFamily="34" charset="0"/>
                <a:ea typeface="Merriweather" pitchFamily="34" charset="-122"/>
                <a:cs typeface="Merriweather" pitchFamily="34" charset="-120"/>
              </a:rPr>
              <a:t>Operational Challenges</a:t>
            </a:r>
            <a:endParaRPr lang="en-US" sz="4850" dirty="0"/>
          </a:p>
        </p:txBody>
      </p:sp>
      <p:sp>
        <p:nvSpPr>
          <p:cNvPr id="4" name="Shape 1"/>
          <p:cNvSpPr/>
          <p:nvPr/>
        </p:nvSpPr>
        <p:spPr>
          <a:xfrm>
            <a:off x="6705124" y="3140154"/>
            <a:ext cx="30480" cy="3090743"/>
          </a:xfrm>
          <a:prstGeom prst="roundRect">
            <a:avLst>
              <a:gd name="adj" fmla="val 340122"/>
            </a:avLst>
          </a:prstGeom>
          <a:solidFill>
            <a:srgbClr val="194A99"/>
          </a:solidFill>
          <a:ln/>
        </p:spPr>
        <p:txBody>
          <a:bodyPr/>
          <a:lstStyle/>
          <a:p>
            <a:endParaRPr lang="en-US"/>
          </a:p>
        </p:txBody>
      </p:sp>
      <p:sp>
        <p:nvSpPr>
          <p:cNvPr id="5" name="Shape 2"/>
          <p:cNvSpPr/>
          <p:nvPr/>
        </p:nvSpPr>
        <p:spPr>
          <a:xfrm>
            <a:off x="6967537" y="3680222"/>
            <a:ext cx="863798" cy="30480"/>
          </a:xfrm>
          <a:prstGeom prst="roundRect">
            <a:avLst>
              <a:gd name="adj" fmla="val 340122"/>
            </a:avLst>
          </a:prstGeom>
          <a:solidFill>
            <a:srgbClr val="194A99"/>
          </a:solidFill>
          <a:ln/>
        </p:spPr>
        <p:txBody>
          <a:bodyPr/>
          <a:lstStyle/>
          <a:p>
            <a:endParaRPr lang="en-US"/>
          </a:p>
        </p:txBody>
      </p:sp>
      <p:sp>
        <p:nvSpPr>
          <p:cNvPr id="6" name="Shape 3"/>
          <p:cNvSpPr/>
          <p:nvPr/>
        </p:nvSpPr>
        <p:spPr>
          <a:xfrm>
            <a:off x="6442710" y="3417808"/>
            <a:ext cx="555308" cy="555308"/>
          </a:xfrm>
          <a:prstGeom prst="roundRect">
            <a:avLst>
              <a:gd name="adj" fmla="val 18669"/>
            </a:avLst>
          </a:prstGeom>
          <a:solidFill>
            <a:srgbClr val="003180"/>
          </a:solidFill>
          <a:ln w="15240">
            <a:solidFill>
              <a:srgbClr val="194A99"/>
            </a:solidFill>
            <a:prstDash val="solid"/>
          </a:ln>
        </p:spPr>
        <p:txBody>
          <a:bodyPr/>
          <a:lstStyle/>
          <a:p>
            <a:endParaRPr lang="en-US"/>
          </a:p>
        </p:txBody>
      </p:sp>
      <p:sp>
        <p:nvSpPr>
          <p:cNvPr id="7" name="Text 4"/>
          <p:cNvSpPr/>
          <p:nvPr/>
        </p:nvSpPr>
        <p:spPr>
          <a:xfrm>
            <a:off x="6638925" y="3510320"/>
            <a:ext cx="162878" cy="370284"/>
          </a:xfrm>
          <a:prstGeom prst="rect">
            <a:avLst/>
          </a:prstGeom>
          <a:noFill/>
          <a:ln/>
        </p:spPr>
        <p:txBody>
          <a:bodyPr wrap="none" lIns="0" tIns="0" rIns="0" bIns="0" rtlCol="0" anchor="t"/>
          <a:lstStyle/>
          <a:p>
            <a:pPr marL="0" indent="0" algn="ctr">
              <a:lnSpc>
                <a:spcPts val="2900"/>
              </a:lnSpc>
              <a:buNone/>
            </a:pPr>
            <a:r>
              <a:rPr lang="en-US" sz="2900" dirty="0">
                <a:solidFill>
                  <a:srgbClr val="E2E6E9"/>
                </a:solidFill>
                <a:latin typeface="Merriweather" pitchFamily="34" charset="0"/>
                <a:ea typeface="Merriweather" pitchFamily="34" charset="-122"/>
                <a:cs typeface="Merriweather" pitchFamily="34" charset="-120"/>
              </a:rPr>
              <a:t>1</a:t>
            </a:r>
            <a:endParaRPr lang="en-US" sz="2900" dirty="0"/>
          </a:p>
        </p:txBody>
      </p:sp>
      <p:sp>
        <p:nvSpPr>
          <p:cNvPr id="8" name="Text 5"/>
          <p:cNvSpPr/>
          <p:nvPr/>
        </p:nvSpPr>
        <p:spPr>
          <a:xfrm>
            <a:off x="8077914" y="3386971"/>
            <a:ext cx="4065389"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Legacy System Integration</a:t>
            </a:r>
            <a:endParaRPr lang="en-US" sz="2400" dirty="0"/>
          </a:p>
        </p:txBody>
      </p:sp>
      <p:sp>
        <p:nvSpPr>
          <p:cNvPr id="9" name="Text 6"/>
          <p:cNvSpPr/>
          <p:nvPr/>
        </p:nvSpPr>
        <p:spPr>
          <a:xfrm>
            <a:off x="8077914" y="3920490"/>
            <a:ext cx="5688687" cy="39481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Incorporating AI can be complex.</a:t>
            </a:r>
            <a:endParaRPr lang="en-US" sz="1900" dirty="0"/>
          </a:p>
        </p:txBody>
      </p:sp>
      <p:sp>
        <p:nvSpPr>
          <p:cNvPr id="10" name="Shape 7"/>
          <p:cNvSpPr/>
          <p:nvPr/>
        </p:nvSpPr>
        <p:spPr>
          <a:xfrm>
            <a:off x="6967537" y="5349002"/>
            <a:ext cx="863798" cy="30480"/>
          </a:xfrm>
          <a:prstGeom prst="roundRect">
            <a:avLst>
              <a:gd name="adj" fmla="val 340122"/>
            </a:avLst>
          </a:prstGeom>
          <a:solidFill>
            <a:srgbClr val="194A99"/>
          </a:solidFill>
          <a:ln/>
        </p:spPr>
        <p:txBody>
          <a:bodyPr/>
          <a:lstStyle/>
          <a:p>
            <a:endParaRPr lang="en-US"/>
          </a:p>
        </p:txBody>
      </p:sp>
      <p:sp>
        <p:nvSpPr>
          <p:cNvPr id="11" name="Shape 8"/>
          <p:cNvSpPr/>
          <p:nvPr/>
        </p:nvSpPr>
        <p:spPr>
          <a:xfrm>
            <a:off x="6442710" y="5086588"/>
            <a:ext cx="555308" cy="555308"/>
          </a:xfrm>
          <a:prstGeom prst="roundRect">
            <a:avLst>
              <a:gd name="adj" fmla="val 18669"/>
            </a:avLst>
          </a:prstGeom>
          <a:solidFill>
            <a:srgbClr val="003180"/>
          </a:solidFill>
          <a:ln w="15240">
            <a:solidFill>
              <a:srgbClr val="194A99"/>
            </a:solidFill>
            <a:prstDash val="solid"/>
          </a:ln>
        </p:spPr>
        <p:txBody>
          <a:bodyPr/>
          <a:lstStyle/>
          <a:p>
            <a:endParaRPr lang="en-US"/>
          </a:p>
        </p:txBody>
      </p:sp>
      <p:sp>
        <p:nvSpPr>
          <p:cNvPr id="12" name="Text 9"/>
          <p:cNvSpPr/>
          <p:nvPr/>
        </p:nvSpPr>
        <p:spPr>
          <a:xfrm>
            <a:off x="6609636" y="5179100"/>
            <a:ext cx="221456" cy="370284"/>
          </a:xfrm>
          <a:prstGeom prst="rect">
            <a:avLst/>
          </a:prstGeom>
          <a:noFill/>
          <a:ln/>
        </p:spPr>
        <p:txBody>
          <a:bodyPr wrap="none" lIns="0" tIns="0" rIns="0" bIns="0" rtlCol="0" anchor="t"/>
          <a:lstStyle/>
          <a:p>
            <a:pPr marL="0" indent="0" algn="ctr">
              <a:lnSpc>
                <a:spcPts val="2900"/>
              </a:lnSpc>
              <a:buNone/>
            </a:pPr>
            <a:r>
              <a:rPr lang="en-US" sz="2900" dirty="0">
                <a:solidFill>
                  <a:srgbClr val="E2E6E9"/>
                </a:solidFill>
                <a:latin typeface="Merriweather" pitchFamily="34" charset="0"/>
                <a:ea typeface="Merriweather" pitchFamily="34" charset="-122"/>
                <a:cs typeface="Merriweather" pitchFamily="34" charset="-120"/>
              </a:rPr>
              <a:t>2</a:t>
            </a:r>
            <a:endParaRPr lang="en-US" sz="2900" dirty="0"/>
          </a:p>
        </p:txBody>
      </p:sp>
      <p:sp>
        <p:nvSpPr>
          <p:cNvPr id="13" name="Text 10"/>
          <p:cNvSpPr/>
          <p:nvPr/>
        </p:nvSpPr>
        <p:spPr>
          <a:xfrm>
            <a:off x="8077914" y="5055751"/>
            <a:ext cx="3085386"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Skill Gaps</a:t>
            </a:r>
            <a:endParaRPr lang="en-US" sz="2400" dirty="0"/>
          </a:p>
        </p:txBody>
      </p:sp>
      <p:sp>
        <p:nvSpPr>
          <p:cNvPr id="14" name="Text 11"/>
          <p:cNvSpPr/>
          <p:nvPr/>
        </p:nvSpPr>
        <p:spPr>
          <a:xfrm>
            <a:off x="8077914" y="5589270"/>
            <a:ext cx="5688687" cy="39481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Expertise is often lacking.</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63798" y="690682"/>
            <a:ext cx="6170771" cy="771287"/>
          </a:xfrm>
          <a:prstGeom prst="rect">
            <a:avLst/>
          </a:prstGeom>
          <a:noFill/>
          <a:ln/>
        </p:spPr>
        <p:txBody>
          <a:bodyPr wrap="none" lIns="0" tIns="0" rIns="0" bIns="0" rtlCol="0" anchor="t"/>
          <a:lstStyle/>
          <a:p>
            <a:pPr marL="0" indent="0">
              <a:lnSpc>
                <a:spcPts val="6050"/>
              </a:lnSpc>
              <a:buNone/>
            </a:pPr>
            <a:r>
              <a:rPr lang="en-US" sz="4850" dirty="0">
                <a:solidFill>
                  <a:srgbClr val="F5F0F0"/>
                </a:solidFill>
                <a:latin typeface="Merriweather" pitchFamily="34" charset="0"/>
                <a:ea typeface="Merriweather" pitchFamily="34" charset="-122"/>
                <a:cs typeface="Merriweather" pitchFamily="34" charset="-120"/>
              </a:rPr>
              <a:t>Ethical Challenges</a:t>
            </a:r>
            <a:endParaRPr lang="en-US" sz="4850" dirty="0"/>
          </a:p>
        </p:txBody>
      </p:sp>
      <p:sp>
        <p:nvSpPr>
          <p:cNvPr id="3" name="Text 1"/>
          <p:cNvSpPr/>
          <p:nvPr/>
        </p:nvSpPr>
        <p:spPr>
          <a:xfrm>
            <a:off x="1478161" y="4020741"/>
            <a:ext cx="3085386" cy="385524"/>
          </a:xfrm>
          <a:prstGeom prst="rect">
            <a:avLst/>
          </a:prstGeom>
          <a:noFill/>
          <a:ln/>
        </p:spPr>
        <p:txBody>
          <a:bodyPr wrap="none" lIns="0" tIns="0" rIns="0" bIns="0" rtlCol="0" anchor="t"/>
          <a:lstStyle/>
          <a:p>
            <a:pPr marL="0" indent="0" algn="r">
              <a:lnSpc>
                <a:spcPts val="3000"/>
              </a:lnSpc>
              <a:buNone/>
            </a:pPr>
            <a:r>
              <a:rPr lang="en-US" sz="2400" dirty="0">
                <a:solidFill>
                  <a:srgbClr val="E2E6E9"/>
                </a:solidFill>
                <a:latin typeface="Merriweather" pitchFamily="34" charset="0"/>
                <a:ea typeface="Merriweather" pitchFamily="34" charset="-122"/>
                <a:cs typeface="Merriweather" pitchFamily="34" charset="-120"/>
              </a:rPr>
              <a:t>Human Oversight</a:t>
            </a:r>
            <a:endParaRPr lang="en-US" sz="2400" dirty="0"/>
          </a:p>
        </p:txBody>
      </p:sp>
      <p:pic>
        <p:nvPicPr>
          <p:cNvPr id="4" name="Image 0" descr="preencoded.png"/>
          <p:cNvPicPr>
            <a:picLocks noChangeAspect="1"/>
          </p:cNvPicPr>
          <p:nvPr/>
        </p:nvPicPr>
        <p:blipFill>
          <a:blip r:embed="rId3"/>
          <a:stretch>
            <a:fillRect/>
          </a:stretch>
        </p:blipFill>
        <p:spPr>
          <a:xfrm>
            <a:off x="5057180" y="1955602"/>
            <a:ext cx="4515922" cy="4515922"/>
          </a:xfrm>
          <a:prstGeom prst="rect">
            <a:avLst/>
          </a:prstGeom>
        </p:spPr>
      </p:pic>
      <p:sp>
        <p:nvSpPr>
          <p:cNvPr id="5" name="Text 2"/>
          <p:cNvSpPr/>
          <p:nvPr/>
        </p:nvSpPr>
        <p:spPr>
          <a:xfrm>
            <a:off x="5690116" y="3694986"/>
            <a:ext cx="135850" cy="493514"/>
          </a:xfrm>
          <a:prstGeom prst="rect">
            <a:avLst/>
          </a:prstGeom>
          <a:noFill/>
          <a:ln/>
        </p:spPr>
        <p:txBody>
          <a:bodyPr wrap="none" lIns="0" tIns="0" rIns="0" bIns="0" rtlCol="0" anchor="t"/>
          <a:lstStyle/>
          <a:p>
            <a:pPr marL="0" indent="0">
              <a:lnSpc>
                <a:spcPts val="3850"/>
              </a:lnSpc>
              <a:buNone/>
            </a:pPr>
            <a:r>
              <a:rPr lang="en-US" sz="2400" dirty="0">
                <a:solidFill>
                  <a:srgbClr val="E2E6E9"/>
                </a:solidFill>
                <a:latin typeface="Merriweather" pitchFamily="34" charset="0"/>
                <a:ea typeface="Merriweather" pitchFamily="34" charset="-122"/>
                <a:cs typeface="Merriweather" pitchFamily="34" charset="-120"/>
              </a:rPr>
              <a:t>1</a:t>
            </a:r>
            <a:endParaRPr lang="en-US" sz="2400" dirty="0"/>
          </a:p>
        </p:txBody>
      </p:sp>
      <p:sp>
        <p:nvSpPr>
          <p:cNvPr id="6" name="Text 3"/>
          <p:cNvSpPr/>
          <p:nvPr/>
        </p:nvSpPr>
        <p:spPr>
          <a:xfrm>
            <a:off x="9943267" y="2799278"/>
            <a:ext cx="3085386"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Fair Treatment</a:t>
            </a:r>
            <a:endParaRPr lang="en-US" sz="2400" dirty="0"/>
          </a:p>
        </p:txBody>
      </p:sp>
      <p:pic>
        <p:nvPicPr>
          <p:cNvPr id="7" name="Image 1" descr="preencoded.png"/>
          <p:cNvPicPr>
            <a:picLocks noChangeAspect="1"/>
          </p:cNvPicPr>
          <p:nvPr/>
        </p:nvPicPr>
        <p:blipFill>
          <a:blip r:embed="rId4"/>
          <a:stretch>
            <a:fillRect/>
          </a:stretch>
        </p:blipFill>
        <p:spPr>
          <a:xfrm>
            <a:off x="5057180" y="1955602"/>
            <a:ext cx="4515922" cy="4515922"/>
          </a:xfrm>
          <a:prstGeom prst="rect">
            <a:avLst/>
          </a:prstGeom>
        </p:spPr>
      </p:pic>
      <p:sp>
        <p:nvSpPr>
          <p:cNvPr id="8" name="Text 4"/>
          <p:cNvSpPr/>
          <p:nvPr/>
        </p:nvSpPr>
        <p:spPr>
          <a:xfrm>
            <a:off x="8236625" y="2754154"/>
            <a:ext cx="184547" cy="493514"/>
          </a:xfrm>
          <a:prstGeom prst="rect">
            <a:avLst/>
          </a:prstGeom>
          <a:noFill/>
          <a:ln/>
        </p:spPr>
        <p:txBody>
          <a:bodyPr wrap="none" lIns="0" tIns="0" rIns="0" bIns="0" rtlCol="0" anchor="t"/>
          <a:lstStyle/>
          <a:p>
            <a:pPr marL="0" indent="0">
              <a:lnSpc>
                <a:spcPts val="3850"/>
              </a:lnSpc>
              <a:buNone/>
            </a:pPr>
            <a:r>
              <a:rPr lang="en-US" sz="2400" dirty="0">
                <a:solidFill>
                  <a:srgbClr val="E2E6E9"/>
                </a:solidFill>
                <a:latin typeface="Merriweather" pitchFamily="34" charset="0"/>
                <a:ea typeface="Merriweather" pitchFamily="34" charset="-122"/>
                <a:cs typeface="Merriweather" pitchFamily="34" charset="-120"/>
              </a:rPr>
              <a:t>2</a:t>
            </a:r>
            <a:endParaRPr lang="en-US" sz="2400" dirty="0"/>
          </a:p>
        </p:txBody>
      </p:sp>
      <p:sp>
        <p:nvSpPr>
          <p:cNvPr id="9" name="Text 5"/>
          <p:cNvSpPr/>
          <p:nvPr/>
        </p:nvSpPr>
        <p:spPr>
          <a:xfrm>
            <a:off x="9943267" y="5242322"/>
            <a:ext cx="3086457"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Automation Balance</a:t>
            </a:r>
            <a:endParaRPr lang="en-US" sz="2400" dirty="0"/>
          </a:p>
        </p:txBody>
      </p:sp>
      <p:pic>
        <p:nvPicPr>
          <p:cNvPr id="10" name="Image 2" descr="preencoded.png"/>
          <p:cNvPicPr>
            <a:picLocks noChangeAspect="1"/>
          </p:cNvPicPr>
          <p:nvPr/>
        </p:nvPicPr>
        <p:blipFill>
          <a:blip r:embed="rId5"/>
          <a:stretch>
            <a:fillRect/>
          </a:stretch>
        </p:blipFill>
        <p:spPr>
          <a:xfrm>
            <a:off x="5057180" y="1955602"/>
            <a:ext cx="4515922" cy="4515922"/>
          </a:xfrm>
          <a:prstGeom prst="rect">
            <a:avLst/>
          </a:prstGeom>
        </p:spPr>
      </p:pic>
      <p:sp>
        <p:nvSpPr>
          <p:cNvPr id="11" name="Text 6"/>
          <p:cNvSpPr/>
          <p:nvPr/>
        </p:nvSpPr>
        <p:spPr>
          <a:xfrm>
            <a:off x="7771805" y="5451038"/>
            <a:ext cx="172760" cy="493514"/>
          </a:xfrm>
          <a:prstGeom prst="rect">
            <a:avLst/>
          </a:prstGeom>
          <a:noFill/>
          <a:ln/>
        </p:spPr>
        <p:txBody>
          <a:bodyPr wrap="none" lIns="0" tIns="0" rIns="0" bIns="0" rtlCol="0" anchor="t"/>
          <a:lstStyle/>
          <a:p>
            <a:pPr marL="0" indent="0">
              <a:lnSpc>
                <a:spcPts val="3850"/>
              </a:lnSpc>
              <a:buNone/>
            </a:pPr>
            <a:r>
              <a:rPr lang="en-US" sz="2400" dirty="0">
                <a:solidFill>
                  <a:srgbClr val="E2E6E9"/>
                </a:solidFill>
                <a:latin typeface="Merriweather" pitchFamily="34" charset="0"/>
                <a:ea typeface="Merriweather" pitchFamily="34" charset="-122"/>
                <a:cs typeface="Merriweather" pitchFamily="34" charset="-120"/>
              </a:rPr>
              <a:t>3</a:t>
            </a:r>
            <a:endParaRPr lang="en-US" sz="2400" dirty="0"/>
          </a:p>
        </p:txBody>
      </p:sp>
      <p:sp>
        <p:nvSpPr>
          <p:cNvPr id="12" name="Text 7"/>
          <p:cNvSpPr/>
          <p:nvPr/>
        </p:nvSpPr>
        <p:spPr>
          <a:xfrm>
            <a:off x="863798" y="6749177"/>
            <a:ext cx="12902803" cy="789622"/>
          </a:xfrm>
          <a:prstGeom prst="rect">
            <a:avLst/>
          </a:prstGeom>
          <a:noFill/>
          <a:ln/>
        </p:spPr>
        <p:txBody>
          <a:bodyPr wrap="square" lIns="0" tIns="0" rIns="0" bIns="0" rtlCol="0" anchor="t"/>
          <a:lstStyle/>
          <a:p>
            <a:pPr marL="0" indent="0">
              <a:lnSpc>
                <a:spcPts val="3100"/>
              </a:lnSpc>
              <a:buNone/>
            </a:pPr>
            <a:r>
              <a:rPr lang="en-US" sz="1900" dirty="0">
                <a:solidFill>
                  <a:srgbClr val="E2E6E9"/>
                </a:solidFill>
                <a:latin typeface="Merriweather" pitchFamily="34" charset="0"/>
                <a:ea typeface="Merriweather" pitchFamily="34" charset="-122"/>
                <a:cs typeface="Merriweather" pitchFamily="34" charset="-120"/>
              </a:rPr>
              <a:t>Balancing automation with human oversight is key. This ensures fair treatment of flagged transactions. This challenge remains an ongoing concern.</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3085386"/>
          </a:xfrm>
          <a:prstGeom prst="rect">
            <a:avLst/>
          </a:prstGeom>
        </p:spPr>
      </p:pic>
      <p:sp>
        <p:nvSpPr>
          <p:cNvPr id="3" name="Text 0"/>
          <p:cNvSpPr/>
          <p:nvPr/>
        </p:nvSpPr>
        <p:spPr>
          <a:xfrm>
            <a:off x="863798" y="4355663"/>
            <a:ext cx="6170771" cy="771287"/>
          </a:xfrm>
          <a:prstGeom prst="rect">
            <a:avLst/>
          </a:prstGeom>
          <a:noFill/>
          <a:ln/>
        </p:spPr>
        <p:txBody>
          <a:bodyPr wrap="none" lIns="0" tIns="0" rIns="0" bIns="0" rtlCol="0" anchor="t"/>
          <a:lstStyle/>
          <a:p>
            <a:pPr marL="0" indent="0">
              <a:lnSpc>
                <a:spcPts val="6050"/>
              </a:lnSpc>
              <a:buNone/>
            </a:pPr>
            <a:r>
              <a:rPr lang="en-US" sz="4850" dirty="0">
                <a:solidFill>
                  <a:srgbClr val="F5F0F0"/>
                </a:solidFill>
                <a:latin typeface="Merriweather" pitchFamily="34" charset="0"/>
                <a:ea typeface="Merriweather" pitchFamily="34" charset="-122"/>
                <a:cs typeface="Merriweather" pitchFamily="34" charset="-120"/>
              </a:rPr>
              <a:t>Conclusion</a:t>
            </a:r>
            <a:endParaRPr lang="en-US" sz="4850" dirty="0"/>
          </a:p>
        </p:txBody>
      </p:sp>
      <p:sp>
        <p:nvSpPr>
          <p:cNvPr id="4" name="Text 1"/>
          <p:cNvSpPr/>
          <p:nvPr/>
        </p:nvSpPr>
        <p:spPr>
          <a:xfrm>
            <a:off x="863798" y="5497116"/>
            <a:ext cx="12902803" cy="394811"/>
          </a:xfrm>
          <a:prstGeom prst="rect">
            <a:avLst/>
          </a:prstGeom>
          <a:noFill/>
          <a:ln/>
        </p:spPr>
        <p:txBody>
          <a:bodyPr wrap="none" lIns="0" tIns="0" rIns="0" bIns="0" rtlCol="0" anchor="t"/>
          <a:lstStyle/>
          <a:p>
            <a:pPr marL="0" indent="0">
              <a:lnSpc>
                <a:spcPts val="3100"/>
              </a:lnSpc>
              <a:buNone/>
            </a:pPr>
            <a:r>
              <a:rPr lang="en-US" sz="1900" dirty="0">
                <a:solidFill>
                  <a:srgbClr val="E2E6E9"/>
                </a:solidFill>
                <a:latin typeface="Merriweather" pitchFamily="34" charset="0"/>
                <a:ea typeface="Merriweather" pitchFamily="34" charset="-122"/>
                <a:cs typeface="Merriweather" pitchFamily="34" charset="-120"/>
              </a:rPr>
              <a:t>AI transforms fraud detection at Amergy Bank. It offers real-time monitoring and enhanced accuracy.</a:t>
            </a:r>
            <a:endParaRPr lang="en-US" sz="1900" dirty="0"/>
          </a:p>
        </p:txBody>
      </p:sp>
      <p:sp>
        <p:nvSpPr>
          <p:cNvPr id="5" name="Text 2"/>
          <p:cNvSpPr/>
          <p:nvPr/>
        </p:nvSpPr>
        <p:spPr>
          <a:xfrm>
            <a:off x="863798" y="6169581"/>
            <a:ext cx="12902803" cy="789622"/>
          </a:xfrm>
          <a:prstGeom prst="rect">
            <a:avLst/>
          </a:prstGeom>
          <a:noFill/>
          <a:ln/>
        </p:spPr>
        <p:txBody>
          <a:bodyPr wrap="square" lIns="0" tIns="0" rIns="0" bIns="0" rtlCol="0" anchor="t"/>
          <a:lstStyle/>
          <a:p>
            <a:pPr marL="0" indent="0">
              <a:lnSpc>
                <a:spcPts val="3100"/>
              </a:lnSpc>
              <a:buNone/>
            </a:pPr>
            <a:r>
              <a:rPr lang="en-US" sz="1900" dirty="0">
                <a:solidFill>
                  <a:srgbClr val="E2E6E9"/>
                </a:solidFill>
                <a:latin typeface="Merriweather" pitchFamily="34" charset="0"/>
                <a:ea typeface="Merriweather" pitchFamily="34" charset="-122"/>
                <a:cs typeface="Merriweather" pitchFamily="34" charset="-120"/>
              </a:rPr>
              <a:t>It also provides scalability and reduces costs. Address challenges like costs and data privacy for best results.</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3085386"/>
          </a:xfrm>
          <a:prstGeom prst="rect">
            <a:avLst/>
          </a:prstGeom>
        </p:spPr>
      </p:pic>
      <p:sp>
        <p:nvSpPr>
          <p:cNvPr id="3" name="Text 0"/>
          <p:cNvSpPr/>
          <p:nvPr/>
        </p:nvSpPr>
        <p:spPr>
          <a:xfrm>
            <a:off x="863798" y="3826907"/>
            <a:ext cx="6170771" cy="771287"/>
          </a:xfrm>
          <a:prstGeom prst="rect">
            <a:avLst/>
          </a:prstGeom>
          <a:noFill/>
          <a:ln/>
        </p:spPr>
        <p:txBody>
          <a:bodyPr wrap="none" lIns="0" tIns="0" rIns="0" bIns="0" rtlCol="0" anchor="t"/>
          <a:lstStyle/>
          <a:p>
            <a:pPr marL="0" indent="0">
              <a:lnSpc>
                <a:spcPts val="6050"/>
              </a:lnSpc>
              <a:buNone/>
            </a:pPr>
            <a:r>
              <a:rPr lang="en-US" sz="4850" dirty="0">
                <a:solidFill>
                  <a:srgbClr val="F5F0F0"/>
                </a:solidFill>
                <a:latin typeface="Merriweather" pitchFamily="34" charset="0"/>
                <a:ea typeface="Merriweather" pitchFamily="34" charset="-122"/>
                <a:cs typeface="Merriweather" pitchFamily="34" charset="-120"/>
              </a:rPr>
              <a:t>Recommendations</a:t>
            </a:r>
            <a:endParaRPr lang="en-US" sz="4850" dirty="0"/>
          </a:p>
        </p:txBody>
      </p:sp>
      <p:sp>
        <p:nvSpPr>
          <p:cNvPr id="4" name="Shape 1"/>
          <p:cNvSpPr/>
          <p:nvPr/>
        </p:nvSpPr>
        <p:spPr>
          <a:xfrm>
            <a:off x="863798" y="4968359"/>
            <a:ext cx="4136350" cy="1847255"/>
          </a:xfrm>
          <a:prstGeom prst="roundRect">
            <a:avLst>
              <a:gd name="adj" fmla="val 5612"/>
            </a:avLst>
          </a:prstGeom>
          <a:solidFill>
            <a:srgbClr val="003180"/>
          </a:solidFill>
          <a:ln w="15240">
            <a:solidFill>
              <a:srgbClr val="194A99"/>
            </a:solidFill>
            <a:prstDash val="solid"/>
          </a:ln>
        </p:spPr>
        <p:txBody>
          <a:bodyPr/>
          <a:lstStyle/>
          <a:p>
            <a:endParaRPr lang="en-US"/>
          </a:p>
        </p:txBody>
      </p:sp>
      <p:sp>
        <p:nvSpPr>
          <p:cNvPr id="5" name="Text 2"/>
          <p:cNvSpPr/>
          <p:nvPr/>
        </p:nvSpPr>
        <p:spPr>
          <a:xfrm>
            <a:off x="1125855" y="5230416"/>
            <a:ext cx="3163610" cy="385524"/>
          </a:xfrm>
          <a:prstGeom prst="rect">
            <a:avLst/>
          </a:prstGeom>
          <a:noFill/>
          <a:ln/>
        </p:spPr>
        <p:txBody>
          <a:bodyPr wrap="none" lIns="0" tIns="0" rIns="0" bIns="0" rtlCol="0" anchor="t"/>
          <a:lstStyle/>
          <a:p>
            <a:pPr marL="0" indent="0">
              <a:lnSpc>
                <a:spcPts val="3000"/>
              </a:lnSpc>
              <a:buNone/>
            </a:pPr>
            <a:r>
              <a:rPr lang="en-US" sz="2400" dirty="0">
                <a:solidFill>
                  <a:srgbClr val="E2E6E9"/>
                </a:solidFill>
                <a:latin typeface="Merriweather" pitchFamily="34" charset="0"/>
                <a:ea typeface="Merriweather" pitchFamily="34" charset="-122"/>
                <a:cs typeface="Merriweather" pitchFamily="34" charset="-120"/>
              </a:rPr>
              <a:t>Continuous Training</a:t>
            </a:r>
            <a:endParaRPr lang="en-US" sz="2400" dirty="0"/>
          </a:p>
        </p:txBody>
      </p:sp>
      <p:sp>
        <p:nvSpPr>
          <p:cNvPr id="6" name="Text 3"/>
          <p:cNvSpPr/>
          <p:nvPr/>
        </p:nvSpPr>
        <p:spPr>
          <a:xfrm>
            <a:off x="1125855" y="5763935"/>
            <a:ext cx="3612237" cy="789622"/>
          </a:xfrm>
          <a:prstGeom prst="rect">
            <a:avLst/>
          </a:prstGeom>
          <a:noFill/>
          <a:ln/>
        </p:spPr>
        <p:txBody>
          <a:bodyPr wrap="square" lIns="0" tIns="0" rIns="0" bIns="0" rtlCol="0" anchor="t"/>
          <a:lstStyle/>
          <a:p>
            <a:pPr marL="0" indent="0">
              <a:lnSpc>
                <a:spcPts val="3100"/>
              </a:lnSpc>
              <a:buNone/>
            </a:pPr>
            <a:r>
              <a:rPr lang="en-US" sz="1900" dirty="0">
                <a:solidFill>
                  <a:srgbClr val="E2E6E9"/>
                </a:solidFill>
                <a:latin typeface="Merriweather" pitchFamily="34" charset="0"/>
                <a:ea typeface="Merriweather" pitchFamily="34" charset="-122"/>
                <a:cs typeface="Merriweather" pitchFamily="34" charset="-120"/>
              </a:rPr>
              <a:t>Train staff to manage AI systems.</a:t>
            </a:r>
            <a:endParaRPr lang="en-US" sz="1900" dirty="0"/>
          </a:p>
        </p:txBody>
      </p:sp>
      <p:sp>
        <p:nvSpPr>
          <p:cNvPr id="7" name="Shape 4"/>
          <p:cNvSpPr/>
          <p:nvPr/>
        </p:nvSpPr>
        <p:spPr>
          <a:xfrm>
            <a:off x="5246965" y="4968359"/>
            <a:ext cx="4136350" cy="1847255"/>
          </a:xfrm>
          <a:prstGeom prst="roundRect">
            <a:avLst>
              <a:gd name="adj" fmla="val 5612"/>
            </a:avLst>
          </a:prstGeom>
          <a:solidFill>
            <a:srgbClr val="003180"/>
          </a:solidFill>
          <a:ln w="15240">
            <a:solidFill>
              <a:srgbClr val="194A99"/>
            </a:solidFill>
            <a:prstDash val="solid"/>
          </a:ln>
        </p:spPr>
        <p:txBody>
          <a:bodyPr/>
          <a:lstStyle/>
          <a:p>
            <a:endParaRPr lang="en-US"/>
          </a:p>
        </p:txBody>
      </p:sp>
      <p:sp>
        <p:nvSpPr>
          <p:cNvPr id="8" name="Text 5"/>
          <p:cNvSpPr/>
          <p:nvPr/>
        </p:nvSpPr>
        <p:spPr>
          <a:xfrm>
            <a:off x="5509022" y="5230416"/>
            <a:ext cx="3085386" cy="385524"/>
          </a:xfrm>
          <a:prstGeom prst="rect">
            <a:avLst/>
          </a:prstGeom>
          <a:noFill/>
          <a:ln/>
        </p:spPr>
        <p:txBody>
          <a:bodyPr wrap="none" lIns="0" tIns="0" rIns="0" bIns="0" rtlCol="0" anchor="t"/>
          <a:lstStyle/>
          <a:p>
            <a:pPr marL="0" indent="0">
              <a:lnSpc>
                <a:spcPts val="3000"/>
              </a:lnSpc>
              <a:buNone/>
            </a:pPr>
            <a:r>
              <a:rPr lang="en-US" sz="2400" dirty="0">
                <a:solidFill>
                  <a:srgbClr val="E2E6E9"/>
                </a:solidFill>
                <a:latin typeface="Merriweather" pitchFamily="34" charset="0"/>
                <a:ea typeface="Merriweather" pitchFamily="34" charset="-122"/>
                <a:cs typeface="Merriweather" pitchFamily="34" charset="-120"/>
              </a:rPr>
              <a:t>Transparency</a:t>
            </a:r>
            <a:endParaRPr lang="en-US" sz="2400" dirty="0"/>
          </a:p>
        </p:txBody>
      </p:sp>
      <p:sp>
        <p:nvSpPr>
          <p:cNvPr id="9" name="Text 6"/>
          <p:cNvSpPr/>
          <p:nvPr/>
        </p:nvSpPr>
        <p:spPr>
          <a:xfrm>
            <a:off x="5509022" y="5763935"/>
            <a:ext cx="3612237" cy="789622"/>
          </a:xfrm>
          <a:prstGeom prst="rect">
            <a:avLst/>
          </a:prstGeom>
          <a:noFill/>
          <a:ln/>
        </p:spPr>
        <p:txBody>
          <a:bodyPr wrap="square" lIns="0" tIns="0" rIns="0" bIns="0" rtlCol="0" anchor="t"/>
          <a:lstStyle/>
          <a:p>
            <a:pPr marL="0" indent="0">
              <a:lnSpc>
                <a:spcPts val="3100"/>
              </a:lnSpc>
              <a:buNone/>
            </a:pPr>
            <a:r>
              <a:rPr lang="en-US" sz="1900" dirty="0">
                <a:solidFill>
                  <a:srgbClr val="E2E6E9"/>
                </a:solidFill>
                <a:latin typeface="Merriweather" pitchFamily="34" charset="0"/>
                <a:ea typeface="Merriweather" pitchFamily="34" charset="-122"/>
                <a:cs typeface="Merriweather" pitchFamily="34" charset="-120"/>
              </a:rPr>
              <a:t>Ensure transparency in AI decisions.</a:t>
            </a:r>
            <a:endParaRPr lang="en-US" sz="1900" dirty="0"/>
          </a:p>
        </p:txBody>
      </p:sp>
      <p:sp>
        <p:nvSpPr>
          <p:cNvPr id="10" name="Shape 7"/>
          <p:cNvSpPr/>
          <p:nvPr/>
        </p:nvSpPr>
        <p:spPr>
          <a:xfrm>
            <a:off x="9630132" y="4968359"/>
            <a:ext cx="4136350" cy="1847255"/>
          </a:xfrm>
          <a:prstGeom prst="roundRect">
            <a:avLst>
              <a:gd name="adj" fmla="val 5612"/>
            </a:avLst>
          </a:prstGeom>
          <a:solidFill>
            <a:srgbClr val="003180"/>
          </a:solidFill>
          <a:ln w="15240">
            <a:solidFill>
              <a:srgbClr val="194A99"/>
            </a:solidFill>
            <a:prstDash val="solid"/>
          </a:ln>
        </p:spPr>
        <p:txBody>
          <a:bodyPr/>
          <a:lstStyle/>
          <a:p>
            <a:endParaRPr lang="en-US"/>
          </a:p>
        </p:txBody>
      </p:sp>
      <p:sp>
        <p:nvSpPr>
          <p:cNvPr id="11" name="Text 8"/>
          <p:cNvSpPr/>
          <p:nvPr/>
        </p:nvSpPr>
        <p:spPr>
          <a:xfrm>
            <a:off x="9892189" y="5230416"/>
            <a:ext cx="3546158" cy="385524"/>
          </a:xfrm>
          <a:prstGeom prst="rect">
            <a:avLst/>
          </a:prstGeom>
          <a:noFill/>
          <a:ln/>
        </p:spPr>
        <p:txBody>
          <a:bodyPr wrap="none" lIns="0" tIns="0" rIns="0" bIns="0" rtlCol="0" anchor="t"/>
          <a:lstStyle/>
          <a:p>
            <a:pPr marL="0" indent="0">
              <a:lnSpc>
                <a:spcPts val="3000"/>
              </a:lnSpc>
              <a:buNone/>
            </a:pPr>
            <a:r>
              <a:rPr lang="en-US" sz="2400" dirty="0">
                <a:solidFill>
                  <a:srgbClr val="E2E6E9"/>
                </a:solidFill>
                <a:latin typeface="Merriweather" pitchFamily="34" charset="0"/>
                <a:ea typeface="Merriweather" pitchFamily="34" charset="-122"/>
                <a:cs typeface="Merriweather" pitchFamily="34" charset="-120"/>
              </a:rPr>
              <a:t>Regulatory Compliance</a:t>
            </a:r>
            <a:endParaRPr lang="en-US" sz="2400" dirty="0"/>
          </a:p>
        </p:txBody>
      </p:sp>
      <p:sp>
        <p:nvSpPr>
          <p:cNvPr id="12" name="Text 9"/>
          <p:cNvSpPr/>
          <p:nvPr/>
        </p:nvSpPr>
        <p:spPr>
          <a:xfrm>
            <a:off x="9892189" y="5763935"/>
            <a:ext cx="3612237" cy="789622"/>
          </a:xfrm>
          <a:prstGeom prst="rect">
            <a:avLst/>
          </a:prstGeom>
          <a:noFill/>
          <a:ln/>
        </p:spPr>
        <p:txBody>
          <a:bodyPr wrap="square" lIns="0" tIns="0" rIns="0" bIns="0" rtlCol="0" anchor="t"/>
          <a:lstStyle/>
          <a:p>
            <a:pPr marL="0" indent="0">
              <a:lnSpc>
                <a:spcPts val="3100"/>
              </a:lnSpc>
              <a:buNone/>
            </a:pPr>
            <a:r>
              <a:rPr lang="en-US" sz="1900" dirty="0">
                <a:solidFill>
                  <a:srgbClr val="E2E6E9"/>
                </a:solidFill>
                <a:latin typeface="Merriweather" pitchFamily="34" charset="0"/>
                <a:ea typeface="Merriweather" pitchFamily="34" charset="-122"/>
                <a:cs typeface="Merriweather" pitchFamily="34" charset="-120"/>
              </a:rPr>
              <a:t>Comply with data privacy laws.</a:t>
            </a:r>
            <a:endParaRPr lang="en-US" sz="1900" dirty="0"/>
          </a:p>
        </p:txBody>
      </p:sp>
      <p:sp>
        <p:nvSpPr>
          <p:cNvPr id="13" name="Text 10"/>
          <p:cNvSpPr/>
          <p:nvPr/>
        </p:nvSpPr>
        <p:spPr>
          <a:xfrm>
            <a:off x="863798" y="7093268"/>
            <a:ext cx="12902803" cy="394811"/>
          </a:xfrm>
          <a:prstGeom prst="rect">
            <a:avLst/>
          </a:prstGeom>
          <a:noFill/>
          <a:ln/>
        </p:spPr>
        <p:txBody>
          <a:bodyPr wrap="none" lIns="0" tIns="0" rIns="0" bIns="0" rtlCol="0" anchor="t"/>
          <a:lstStyle/>
          <a:p>
            <a:pPr marL="0" indent="0">
              <a:lnSpc>
                <a:spcPts val="3100"/>
              </a:lnSpc>
              <a:buNone/>
            </a:pPr>
            <a:r>
              <a:rPr lang="en-US" sz="1900" dirty="0">
                <a:solidFill>
                  <a:srgbClr val="E2E6E9"/>
                </a:solidFill>
                <a:latin typeface="Merriweather" pitchFamily="34" charset="0"/>
                <a:ea typeface="Merriweather" pitchFamily="34" charset="-122"/>
                <a:cs typeface="Merriweather" pitchFamily="34" charset="-120"/>
              </a:rPr>
              <a:t>Address these challenges proactively. Financial institutions can then replicate Amergy’s success.</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nvSpPr>
        <p:spPr>
          <a:xfrm>
            <a:off x="6353605" y="1023615"/>
            <a:ext cx="7386569" cy="2952550"/>
          </a:xfrm>
          <a:prstGeom prst="rect">
            <a:avLst/>
          </a:prstGeom>
          <a:noFill/>
          <a:ln/>
        </p:spPr>
        <p:txBody>
          <a:bodyPr wrap="square" lIns="0" tIns="0" rIns="0" bIns="0" rtlCol="0" anchor="t"/>
          <a:lstStyle/>
          <a:p>
            <a:pPr marL="0" indent="0">
              <a:buNone/>
            </a:pPr>
            <a:r>
              <a:rPr lang="en-US" sz="2400" dirty="0">
                <a:solidFill>
                  <a:srgbClr val="E2E6E9"/>
                </a:solidFill>
                <a:ea typeface="Merriweather" pitchFamily="34" charset="-122"/>
                <a:cs typeface="Merriweather" pitchFamily="34" charset="-120"/>
              </a:rPr>
              <a:t>Amegy Bank, a leading financial institution, has integrated artificial intelligence (AI) to combat fraud. AI's real-time data analysis helps detect and prevent fraudulent activities, protecting customer assets, maintaining trust, and reducing financial losses.</a:t>
            </a:r>
            <a:endParaRPr lang="en-US" sz="2400" dirty="0"/>
          </a:p>
        </p:txBody>
      </p:sp>
      <p:sp>
        <p:nvSpPr>
          <p:cNvPr id="5" name="Text 1"/>
          <p:cNvSpPr/>
          <p:nvPr/>
        </p:nvSpPr>
        <p:spPr>
          <a:xfrm>
            <a:off x="6353606" y="4448584"/>
            <a:ext cx="7631666" cy="2267661"/>
          </a:xfrm>
          <a:prstGeom prst="rect">
            <a:avLst/>
          </a:prstGeom>
          <a:noFill/>
          <a:ln/>
        </p:spPr>
        <p:txBody>
          <a:bodyPr wrap="square" lIns="0" tIns="0" rIns="0" bIns="0" rtlCol="0" anchor="t"/>
          <a:lstStyle/>
          <a:p>
            <a:pPr marL="0" indent="0">
              <a:buNone/>
            </a:pPr>
            <a:r>
              <a:rPr lang="en-US" sz="2400" b="1" dirty="0">
                <a:solidFill>
                  <a:srgbClr val="E2E6E9"/>
                </a:solidFill>
                <a:latin typeface="+mj-lt"/>
                <a:ea typeface="Merriweather" pitchFamily="34" charset="-122"/>
                <a:cs typeface="Merriweather" pitchFamily="34" charset="-120"/>
              </a:rPr>
              <a:t>AI has proven transformative for fraud detection at Amegy Bank, offering real-time monitoring, enhanced accuracy, and scalability while reducing operational costs and fraud incidents. However, challenges such as high implementation costs, data privacy concerns, and algorithmic biases must be addressed for optimal results.</a:t>
            </a:r>
            <a:endParaRPr lang="en-US" sz="2400" b="1" dirty="0">
              <a:latin typeface="+mj-lt"/>
            </a:endParaRPr>
          </a:p>
        </p:txBody>
      </p:sp>
      <p:pic>
        <p:nvPicPr>
          <p:cNvPr id="6" name="Online Media 5" title="How Banks Are Utilizing Artificial Intelligence">
            <a:hlinkClick r:id="" action="ppaction://media"/>
            <a:extLst>
              <a:ext uri="{FF2B5EF4-FFF2-40B4-BE49-F238E27FC236}">
                <a16:creationId xmlns:a16="http://schemas.microsoft.com/office/drawing/2014/main" id="{75C84978-8C30-73C7-480D-9C28AD95C6A8}"/>
              </a:ext>
            </a:extLst>
          </p:cNvPr>
          <p:cNvPicPr>
            <a:picLocks noRot="1" noChangeAspect="1"/>
          </p:cNvPicPr>
          <p:nvPr>
            <a:videoFile r:link="rId1"/>
          </p:nvPr>
        </p:nvPicPr>
        <p:blipFill>
          <a:blip r:embed="rId5"/>
          <a:stretch>
            <a:fillRect/>
          </a:stretch>
        </p:blipFill>
        <p:spPr>
          <a:xfrm>
            <a:off x="511938" y="4350921"/>
            <a:ext cx="4661796" cy="2633915"/>
          </a:xfrm>
          <a:prstGeom prst="rect">
            <a:avLst/>
          </a:prstGeom>
        </p:spPr>
      </p:pic>
      <p:pic>
        <p:nvPicPr>
          <p:cNvPr id="7" name="Online Media 6" title="Real-Time Fraud Defense, Powered by AI and AWS">
            <a:hlinkClick r:id="" action="ppaction://media"/>
            <a:extLst>
              <a:ext uri="{FF2B5EF4-FFF2-40B4-BE49-F238E27FC236}">
                <a16:creationId xmlns:a16="http://schemas.microsoft.com/office/drawing/2014/main" id="{1431D4C5-9F0A-C6A1-EED7-DD4EEE5B1794}"/>
              </a:ext>
            </a:extLst>
          </p:cNvPr>
          <p:cNvPicPr>
            <a:picLocks noRot="1" noChangeAspect="1"/>
          </p:cNvPicPr>
          <p:nvPr>
            <a:videoFile r:link="rId2"/>
          </p:nvPr>
        </p:nvPicPr>
        <p:blipFill>
          <a:blip r:embed="rId6"/>
          <a:stretch>
            <a:fillRect/>
          </a:stretch>
        </p:blipFill>
        <p:spPr>
          <a:xfrm>
            <a:off x="511938" y="883705"/>
            <a:ext cx="4661797" cy="26339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6"/>
                </p:tgtEl>
              </p:cMediaNode>
            </p:video>
            <p:seq concurrent="1" nextAc="seek">
              <p:cTn id="12" restart="whenNotActive" fill="hold" evtFilter="cancelBubble" nodeType="interactiveSeq">
                <p:stCondLst>
                  <p:cond evt="onClick" delay="0">
                    <p:tgtEl>
                      <p:spTgt spid="6"/>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6"/>
                                        </p:tgtEl>
                                      </p:cBhvr>
                                    </p:cmd>
                                  </p:childTnLst>
                                </p:cTn>
                              </p:par>
                            </p:childTnLst>
                          </p:cTn>
                        </p:par>
                      </p:childTnLst>
                    </p:cTn>
                  </p:par>
                </p:childTnLst>
              </p:cTn>
              <p:nextCondLst>
                <p:cond evt="onClick" delay="0">
                  <p:tgtEl>
                    <p:spTgt spid="6"/>
                  </p:tgtEl>
                </p:cond>
              </p:nextCondLst>
            </p:seq>
            <p:video>
              <p:cMediaNode vol="80000">
                <p:cTn id="17" fill="hold" display="0">
                  <p:stCondLst>
                    <p:cond delay="indefinite"/>
                  </p:stCondLst>
                </p:cTn>
                <p:tgtEl>
                  <p:spTgt spid="7"/>
                </p:tgtEl>
              </p:cMediaNode>
            </p:video>
            <p:seq concurrent="1" nextAc="seek">
              <p:cTn id="18" restart="whenNotActive" fill="hold" evtFilter="cancelBubble" nodeType="interactiveSeq">
                <p:stCondLst>
                  <p:cond evt="onClick" delay="0">
                    <p:tgtEl>
                      <p:spTgt spid="7"/>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488</Words>
  <Application>Microsoft Office PowerPoint</Application>
  <PresentationFormat>Custom</PresentationFormat>
  <Paragraphs>83</Paragraphs>
  <Slides>11</Slides>
  <Notes>11</Notes>
  <HiddenSlides>0</HiddenSlides>
  <MMClips>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Merriweather</vt:lpstr>
      <vt:lpstr>Merriweather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timothy.williams8-W0740252</cp:lastModifiedBy>
  <cp:revision>2</cp:revision>
  <dcterms:created xsi:type="dcterms:W3CDTF">2025-02-28T01:49:44Z</dcterms:created>
  <dcterms:modified xsi:type="dcterms:W3CDTF">2025-02-28T02:08:13Z</dcterms:modified>
</cp:coreProperties>
</file>